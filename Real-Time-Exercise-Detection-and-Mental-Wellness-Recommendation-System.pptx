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2" r:id="rId9"/>
    <p:sldId id="261" r:id="rId10"/>
    <p:sldId id="263" r:id="rId11"/>
    <p:sldId id="264" r:id="rId12"/>
    <p:sldId id="265" r:id="rId13"/>
    <p:sldId id="266" r:id="rId14"/>
    <p:sldId id="267" r:id="rId15"/>
    <p:sldId id="268" r:id="rId16"/>
    <p:sldId id="269" r:id="rId17"/>
    <p:sldId id="270" r:id="rId18"/>
    <p:sldId id="272" r:id="rId19"/>
    <p:sldId id="273" r:id="rId20"/>
    <p:sldId id="274" r:id="rId21"/>
    <p:sldId id="275" r:id="rId2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9"/>
    <p:restoredTop sz="94691"/>
  </p:normalViewPr>
  <p:slideViewPr>
    <p:cSldViewPr snapToGrid="0" showGuides="1">
      <p:cViewPr varScale="1">
        <p:scale>
          <a:sx n="97" d="100"/>
          <a:sy n="97" d="100"/>
        </p:scale>
        <p:origin x="1480"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6"/>
        <p:cNvGrpSpPr/>
        <p:nvPr/>
      </p:nvGrpSpPr>
      <p:grpSpPr>
        <a:xfrm>
          <a:off x="0" y="0"/>
          <a:ext cx="0" cy="0"/>
          <a:chOff x="0" y="0"/>
          <a:chExt cx="0" cy="0"/>
        </a:xfrm>
      </p:grpSpPr>
      <p:sp>
        <p:nvSpPr>
          <p:cNvPr id="47" name="Google Shape;47;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8" name="Google Shape;4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2"/>
        <p:cNvGrpSpPr/>
        <p:nvPr/>
      </p:nvGrpSpPr>
      <p:grpSpPr>
        <a:xfrm>
          <a:off x="0" y="0"/>
          <a:ext cx="0" cy="0"/>
          <a:chOff x="0" y="0"/>
          <a:chExt cx="0" cy="0"/>
        </a:xfrm>
      </p:grpSpPr>
      <p:sp>
        <p:nvSpPr>
          <p:cNvPr id="53" name="Google Shape;53;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4" name="Google Shape;5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9"/>
        <p:cNvGrpSpPr/>
        <p:nvPr/>
      </p:nvGrpSpPr>
      <p:grpSpPr>
        <a:xfrm>
          <a:off x="0" y="0"/>
          <a:ext cx="0" cy="0"/>
          <a:chOff x="0" y="0"/>
          <a:chExt cx="0" cy="0"/>
        </a:xfrm>
      </p:grpSpPr>
      <p:sp>
        <p:nvSpPr>
          <p:cNvPr id="60" name="Google Shape;60;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1" name="Google Shape;61;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6"/>
        <p:cNvGrpSpPr/>
        <p:nvPr/>
      </p:nvGrpSpPr>
      <p:grpSpPr>
        <a:xfrm>
          <a:off x="0" y="0"/>
          <a:ext cx="0" cy="0"/>
          <a:chOff x="0" y="0"/>
          <a:chExt cx="0" cy="0"/>
        </a:xfrm>
      </p:grpSpPr>
      <p:sp>
        <p:nvSpPr>
          <p:cNvPr id="67" name="Google Shape;67;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8" name="Google Shape;68;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3"/>
        <p:cNvGrpSpPr/>
        <p:nvPr/>
      </p:nvGrpSpPr>
      <p:grpSpPr>
        <a:xfrm>
          <a:off x="0" y="0"/>
          <a:ext cx="0" cy="0"/>
          <a:chOff x="0" y="0"/>
          <a:chExt cx="0" cy="0"/>
        </a:xfrm>
      </p:grpSpPr>
      <p:sp>
        <p:nvSpPr>
          <p:cNvPr id="74" name="Google Shape;74;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5" name="Google Shape;75;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8"/>
        <p:cNvGrpSpPr/>
        <p:nvPr/>
      </p:nvGrpSpPr>
      <p:grpSpPr>
        <a:xfrm>
          <a:off x="0" y="0"/>
          <a:ext cx="0" cy="0"/>
          <a:chOff x="0" y="0"/>
          <a:chExt cx="0" cy="0"/>
        </a:xfrm>
      </p:grpSpPr>
      <p:sp>
        <p:nvSpPr>
          <p:cNvPr id="89" name="Google Shape;89;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0" name="Google Shape;90;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1"/>
        <p:cNvGrpSpPr/>
        <p:nvPr/>
      </p:nvGrpSpPr>
      <p:grpSpPr>
        <a:xfrm>
          <a:off x="0" y="0"/>
          <a:ext cx="0" cy="0"/>
          <a:chOff x="0" y="0"/>
          <a:chExt cx="0" cy="0"/>
        </a:xfrm>
      </p:grpSpPr>
      <p:sp>
        <p:nvSpPr>
          <p:cNvPr id="82" name="Google Shape;8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3" name="Google Shape;8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5"/>
        <p:cNvGrpSpPr/>
        <p:nvPr/>
      </p:nvGrpSpPr>
      <p:grpSpPr>
        <a:xfrm>
          <a:off x="0" y="0"/>
          <a:ext cx="0" cy="0"/>
          <a:chOff x="0" y="0"/>
          <a:chExt cx="0" cy="0"/>
        </a:xfrm>
      </p:grpSpPr>
      <p:sp>
        <p:nvSpPr>
          <p:cNvPr id="96" name="Google Shape;96;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7" name="Google Shape;97;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4"/>
        <p:cNvGrpSpPr/>
        <p:nvPr/>
      </p:nvGrpSpPr>
      <p:grpSpPr>
        <a:xfrm>
          <a:off x="0" y="0"/>
          <a:ext cx="0" cy="0"/>
          <a:chOff x="0" y="0"/>
          <a:chExt cx="0" cy="0"/>
        </a:xfrm>
      </p:grpSpPr>
      <p:sp>
        <p:nvSpPr>
          <p:cNvPr id="105" name="Google Shape;105;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6" name="Google Shape;106;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2"/>
        <p:cNvGrpSpPr/>
        <p:nvPr/>
      </p:nvGrpSpPr>
      <p:grpSpPr>
        <a:xfrm>
          <a:off x="0" y="0"/>
          <a:ext cx="0" cy="0"/>
          <a:chOff x="0" y="0"/>
          <a:chExt cx="0" cy="0"/>
        </a:xfrm>
      </p:grpSpPr>
      <p:sp>
        <p:nvSpPr>
          <p:cNvPr id="113" name="Google Shape;113;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4" name="Google Shape;114;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9"/>
        <p:cNvGrpSpPr/>
        <p:nvPr/>
      </p:nvGrpSpPr>
      <p:grpSpPr>
        <a:xfrm>
          <a:off x="0" y="0"/>
          <a:ext cx="0" cy="0"/>
          <a:chOff x="0" y="0"/>
          <a:chExt cx="0" cy="0"/>
        </a:xfrm>
      </p:grpSpPr>
      <p:sp>
        <p:nvSpPr>
          <p:cNvPr id="120" name="Google Shape;120;g16df05373bacbf44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1" name="Google Shape;121;g16df05373bacbf44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6"/>
        <p:cNvGrpSpPr/>
        <p:nvPr/>
      </p:nvGrpSpPr>
      <p:grpSpPr>
        <a:xfrm>
          <a:off x="0" y="0"/>
          <a:ext cx="0" cy="0"/>
          <a:chOff x="0" y="0"/>
          <a:chExt cx="0" cy="0"/>
        </a:xfrm>
      </p:grpSpPr>
      <p:sp>
        <p:nvSpPr>
          <p:cNvPr id="127" name="Google Shape;127;g16df05373bacbf44_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8" name="Google Shape;128;g16df05373bacbf44_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4"/>
        <p:cNvGrpSpPr/>
        <p:nvPr/>
      </p:nvGrpSpPr>
      <p:grpSpPr>
        <a:xfrm>
          <a:off x="0" y="0"/>
          <a:ext cx="0" cy="0"/>
          <a:chOff x="0" y="0"/>
          <a:chExt cx="0" cy="0"/>
        </a:xfrm>
      </p:grpSpPr>
      <p:sp>
        <p:nvSpPr>
          <p:cNvPr id="135" name="Google Shape;135;g16df05373bacbf44_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6" name="Google Shape;136;g16df05373bacbf44_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1"/>
        <p:cNvGrpSpPr/>
        <p:nvPr/>
      </p:nvGrpSpPr>
      <p:grpSpPr>
        <a:xfrm>
          <a:off x="0" y="0"/>
          <a:ext cx="0" cy="0"/>
          <a:chOff x="0" y="0"/>
          <a:chExt cx="0" cy="0"/>
        </a:xfrm>
      </p:grpSpPr>
      <p:sp>
        <p:nvSpPr>
          <p:cNvPr id="142" name="Google Shape;142;g16df05373bacbf44_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3" name="Google Shape;143;g16df05373bacbf44_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8"/>
        <p:cNvGrpSpPr/>
        <p:nvPr/>
      </p:nvGrpSpPr>
      <p:grpSpPr>
        <a:xfrm>
          <a:off x="0" y="0"/>
          <a:ext cx="0" cy="0"/>
          <a:chOff x="0" y="0"/>
          <a:chExt cx="0" cy="0"/>
        </a:xfrm>
      </p:grpSpPr>
      <p:sp>
        <p:nvSpPr>
          <p:cNvPr id="149" name="Google Shape;149;g16df05373bacbf44_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0" name="Google Shape;150;g16df05373bacbf44_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4"/>
        <p:cNvGrpSpPr/>
        <p:nvPr/>
      </p:nvGrpSpPr>
      <p:grpSpPr>
        <a:xfrm>
          <a:off x="0" y="0"/>
          <a:ext cx="0" cy="0"/>
          <a:chOff x="0" y="0"/>
          <a:chExt cx="0" cy="0"/>
        </a:xfrm>
      </p:grpSpPr>
      <p:sp>
        <p:nvSpPr>
          <p:cNvPr id="165" name="Google Shape;165;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6" name="Google Shape;166;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1"/>
        <p:cNvGrpSpPr/>
        <p:nvPr/>
      </p:nvGrpSpPr>
      <p:grpSpPr>
        <a:xfrm>
          <a:off x="0" y="0"/>
          <a:ext cx="0" cy="0"/>
          <a:chOff x="0" y="0"/>
          <a:chExt cx="0" cy="0"/>
        </a:xfrm>
      </p:grpSpPr>
      <p:sp>
        <p:nvSpPr>
          <p:cNvPr id="172" name="Google Shape;172;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3" name="Google Shape;173;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8"/>
        <p:cNvGrpSpPr/>
        <p:nvPr/>
      </p:nvGrpSpPr>
      <p:grpSpPr>
        <a:xfrm>
          <a:off x="0" y="0"/>
          <a:ext cx="0" cy="0"/>
          <a:chOff x="0" y="0"/>
          <a:chExt cx="0" cy="0"/>
        </a:xfrm>
      </p:grpSpPr>
      <p:sp>
        <p:nvSpPr>
          <p:cNvPr id="179" name="Google Shape;179;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80" name="Google Shape;18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5"/>
        <p:cNvGrpSpPr/>
        <p:nvPr/>
      </p:nvGrpSpPr>
      <p:grpSpPr>
        <a:xfrm>
          <a:off x="0" y="0"/>
          <a:ext cx="0" cy="0"/>
          <a:chOff x="0" y="0"/>
          <a:chExt cx="0" cy="0"/>
        </a:xfrm>
      </p:grpSpPr>
      <p:sp>
        <p:nvSpPr>
          <p:cNvPr id="186" name="Google Shape;186;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87" name="Google Shape;187;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24"/>
        <p:cNvGrpSpPr/>
        <p:nvPr/>
      </p:nvGrpSpPr>
      <p:grpSpPr>
        <a:xfrm>
          <a:off x="0" y="0"/>
          <a:ext cx="0" cy="0"/>
          <a:chOff x="0" y="0"/>
          <a:chExt cx="0" cy="0"/>
        </a:xfrm>
      </p:grpSpPr>
      <p:sp>
        <p:nvSpPr>
          <p:cNvPr id="25" name="Google Shape;25;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8"/>
        <p:cNvGrpSpPr/>
        <p:nvPr/>
      </p:nvGrpSpPr>
      <p:grpSpPr>
        <a:xfrm>
          <a:off x="0" y="0"/>
          <a:ext cx="0" cy="0"/>
          <a:chOff x="0" y="0"/>
          <a:chExt cx="0" cy="0"/>
        </a:xfrm>
      </p:grpSpPr>
      <p:pic>
        <p:nvPicPr>
          <p:cNvPr id="29" name="Google Shape;29;p3" descr="LOGO.gif"/>
          <p:cNvPicPr preferRelativeResize="0"/>
          <p:nvPr/>
        </p:nvPicPr>
        <p:blipFill rotWithShape="1">
          <a:blip r:embed="rId2"/>
          <a:srcRect b="10713"/>
          <a:stretch>
            <a:fillRect/>
          </a:stretch>
        </p:blipFill>
        <p:spPr>
          <a:xfrm>
            <a:off x="6553200" y="228600"/>
            <a:ext cx="2057400" cy="635000"/>
          </a:xfrm>
          <a:prstGeom prst="rect">
            <a:avLst/>
          </a:prstGeom>
          <a:noFill/>
          <a:ln>
            <a:noFill/>
          </a:ln>
        </p:spPr>
      </p:pic>
      <p:grpSp>
        <p:nvGrpSpPr>
          <p:cNvPr id="30" name="Google Shape;30;p3"/>
          <p:cNvGrpSpPr/>
          <p:nvPr/>
        </p:nvGrpSpPr>
        <p:grpSpPr>
          <a:xfrm>
            <a:off x="6146800" y="0"/>
            <a:ext cx="2997200" cy="876300"/>
            <a:chOff x="6096000" y="3924300"/>
            <a:chExt cx="2997200" cy="876300"/>
          </a:xfrm>
        </p:grpSpPr>
        <p:sp>
          <p:nvSpPr>
            <p:cNvPr id="31" name="Google Shape;31;p3"/>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2" name="Google Shape;32;p3" descr="LOGO.gif"/>
            <p:cNvPicPr preferRelativeResize="0"/>
            <p:nvPr/>
          </p:nvPicPr>
          <p:blipFill rotWithShape="1">
            <a:blip r:embed="rId2"/>
            <a:srcRect b="10713"/>
            <a:stretch>
              <a:fillRect/>
            </a:stretch>
          </p:blipFill>
          <p:spPr>
            <a:xfrm>
              <a:off x="6502400" y="4152900"/>
              <a:ext cx="2057400" cy="635000"/>
            </a:xfrm>
            <a:prstGeom prst="rect">
              <a:avLst/>
            </a:prstGeom>
            <a:noFill/>
            <a:ln>
              <a:noFill/>
            </a:ln>
          </p:spPr>
        </p:pic>
        <p:sp>
          <p:nvSpPr>
            <p:cNvPr id="33" name="Google Shape;33;p3"/>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pic>
        <p:nvPicPr>
          <p:cNvPr id="34" name="Google Shape;34;p3" descr="logo.jpg"/>
          <p:cNvPicPr preferRelativeResize="0"/>
          <p:nvPr/>
        </p:nvPicPr>
        <p:blipFill rotWithShape="1">
          <a:blip r:embed="rId3"/>
          <a:srcRect/>
          <a:stretch>
            <a:fillRect/>
          </a:stretch>
        </p:blipFill>
        <p:spPr>
          <a:xfrm>
            <a:off x="6553200" y="228600"/>
            <a:ext cx="1920875" cy="609600"/>
          </a:xfrm>
          <a:prstGeom prst="rect">
            <a:avLst/>
          </a:prstGeom>
          <a:noFill/>
          <a:ln>
            <a:noFill/>
          </a:ln>
        </p:spPr>
      </p:pic>
      <p:sp>
        <p:nvSpPr>
          <p:cNvPr id="35" name="Google Shape;35;p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200">
                <a:latin typeface="Times New Roman" panose="02020503050405090304"/>
                <a:ea typeface="Times New Roman" panose="02020503050405090304"/>
                <a:cs typeface="Times New Roman" panose="02020503050405090304"/>
                <a:sym typeface="Times New Roman" panose="02020503050405090304"/>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6" name="Google Shape;36;p3"/>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68300" algn="l">
              <a:spcBef>
                <a:spcPts val="440"/>
              </a:spcBef>
              <a:spcAft>
                <a:spcPts val="0"/>
              </a:spcAft>
              <a:buClr>
                <a:schemeClr val="dk1"/>
              </a:buClr>
              <a:buSzPts val="2200"/>
              <a:buChar char="•"/>
              <a:defRPr sz="2200">
                <a:latin typeface="Times New Roman" panose="02020503050405090304"/>
                <a:ea typeface="Times New Roman" panose="02020503050405090304"/>
                <a:cs typeface="Times New Roman" panose="02020503050405090304"/>
                <a:sym typeface="Times New Roman" panose="02020503050405090304"/>
              </a:defRPr>
            </a:lvl1pPr>
            <a:lvl2pPr marL="914400" lvl="1" indent="-368300" algn="l">
              <a:spcBef>
                <a:spcPts val="440"/>
              </a:spcBef>
              <a:spcAft>
                <a:spcPts val="0"/>
              </a:spcAft>
              <a:buClr>
                <a:schemeClr val="dk1"/>
              </a:buClr>
              <a:buSzPts val="2200"/>
              <a:buChar char="–"/>
              <a:defRPr sz="2200">
                <a:latin typeface="Times New Roman" panose="02020503050405090304"/>
                <a:ea typeface="Times New Roman" panose="02020503050405090304"/>
                <a:cs typeface="Times New Roman" panose="02020503050405090304"/>
                <a:sym typeface="Times New Roman" panose="02020503050405090304"/>
              </a:defRPr>
            </a:lvl2pPr>
            <a:lvl3pPr marL="1371600" lvl="2" indent="-368300" algn="l">
              <a:spcBef>
                <a:spcPts val="440"/>
              </a:spcBef>
              <a:spcAft>
                <a:spcPts val="0"/>
              </a:spcAft>
              <a:buClr>
                <a:schemeClr val="dk1"/>
              </a:buClr>
              <a:buSzPts val="2200"/>
              <a:buChar char="•"/>
              <a:defRPr sz="2200">
                <a:latin typeface="Times New Roman" panose="02020503050405090304"/>
                <a:ea typeface="Times New Roman" panose="02020503050405090304"/>
                <a:cs typeface="Times New Roman" panose="02020503050405090304"/>
                <a:sym typeface="Times New Roman" panose="02020503050405090304"/>
              </a:defRPr>
            </a:lvl3pPr>
            <a:lvl4pPr marL="1828800" lvl="3" indent="-368300" algn="l">
              <a:spcBef>
                <a:spcPts val="440"/>
              </a:spcBef>
              <a:spcAft>
                <a:spcPts val="0"/>
              </a:spcAft>
              <a:buClr>
                <a:schemeClr val="dk1"/>
              </a:buClr>
              <a:buSzPts val="2200"/>
              <a:buChar char="–"/>
              <a:defRPr sz="2200">
                <a:latin typeface="Times New Roman" panose="02020503050405090304"/>
                <a:ea typeface="Times New Roman" panose="02020503050405090304"/>
                <a:cs typeface="Times New Roman" panose="02020503050405090304"/>
                <a:sym typeface="Times New Roman" panose="02020503050405090304"/>
              </a:defRPr>
            </a:lvl4pPr>
            <a:lvl5pPr marL="2286000" lvl="4" indent="-368300" algn="l">
              <a:spcBef>
                <a:spcPts val="440"/>
              </a:spcBef>
              <a:spcAft>
                <a:spcPts val="0"/>
              </a:spcAft>
              <a:buClr>
                <a:schemeClr val="dk1"/>
              </a:buClr>
              <a:buSzPts val="2200"/>
              <a:buChar char="»"/>
              <a:defRPr sz="2200">
                <a:latin typeface="Times New Roman" panose="02020503050405090304"/>
                <a:ea typeface="Times New Roman" panose="02020503050405090304"/>
                <a:cs typeface="Times New Roman" panose="02020503050405090304"/>
                <a:sym typeface="Times New Roman" panose="02020503050405090304"/>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37" name="Google Shape;37;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a:solidFill>
                  <a:srgbClr val="0070C0"/>
                </a:solidFill>
                <a:latin typeface="Times New Roman" panose="02020503050405090304"/>
                <a:ea typeface="Times New Roman" panose="02020503050405090304"/>
                <a:cs typeface="Times New Roman" panose="02020503050405090304"/>
                <a:sym typeface="Times New Roman" panose="02020503050405090304"/>
              </a:defRPr>
            </a:lvl1pPr>
            <a:lvl2pPr marL="0" lvl="1" indent="0" algn="r">
              <a:spcBef>
                <a:spcPts val="0"/>
              </a:spcBef>
              <a:buNone/>
              <a:defRPr sz="1200" b="1">
                <a:solidFill>
                  <a:srgbClr val="0070C0"/>
                </a:solidFill>
                <a:latin typeface="Times New Roman" panose="02020503050405090304"/>
                <a:ea typeface="Times New Roman" panose="02020503050405090304"/>
                <a:cs typeface="Times New Roman" panose="02020503050405090304"/>
                <a:sym typeface="Times New Roman" panose="02020503050405090304"/>
              </a:defRPr>
            </a:lvl2pPr>
            <a:lvl3pPr marL="0" lvl="2" indent="0" algn="r">
              <a:spcBef>
                <a:spcPts val="0"/>
              </a:spcBef>
              <a:buNone/>
              <a:defRPr sz="1200" b="1">
                <a:solidFill>
                  <a:srgbClr val="0070C0"/>
                </a:solidFill>
                <a:latin typeface="Times New Roman" panose="02020503050405090304"/>
                <a:ea typeface="Times New Roman" panose="02020503050405090304"/>
                <a:cs typeface="Times New Roman" panose="02020503050405090304"/>
                <a:sym typeface="Times New Roman" panose="02020503050405090304"/>
              </a:defRPr>
            </a:lvl3pPr>
            <a:lvl4pPr marL="0" lvl="3" indent="0" algn="r">
              <a:spcBef>
                <a:spcPts val="0"/>
              </a:spcBef>
              <a:buNone/>
              <a:defRPr sz="1200" b="1">
                <a:solidFill>
                  <a:srgbClr val="0070C0"/>
                </a:solidFill>
                <a:latin typeface="Times New Roman" panose="02020503050405090304"/>
                <a:ea typeface="Times New Roman" panose="02020503050405090304"/>
                <a:cs typeface="Times New Roman" panose="02020503050405090304"/>
                <a:sym typeface="Times New Roman" panose="02020503050405090304"/>
              </a:defRPr>
            </a:lvl4pPr>
            <a:lvl5pPr marL="0" lvl="4" indent="0" algn="r">
              <a:spcBef>
                <a:spcPts val="0"/>
              </a:spcBef>
              <a:buNone/>
              <a:defRPr sz="1200" b="1">
                <a:solidFill>
                  <a:srgbClr val="0070C0"/>
                </a:solidFill>
                <a:latin typeface="Times New Roman" panose="02020503050405090304"/>
                <a:ea typeface="Times New Roman" panose="02020503050405090304"/>
                <a:cs typeface="Times New Roman" panose="02020503050405090304"/>
                <a:sym typeface="Times New Roman" panose="02020503050405090304"/>
              </a:defRPr>
            </a:lvl5pPr>
            <a:lvl6pPr marL="0" lvl="5" indent="0" algn="r">
              <a:spcBef>
                <a:spcPts val="0"/>
              </a:spcBef>
              <a:buNone/>
              <a:defRPr sz="1200" b="1">
                <a:solidFill>
                  <a:srgbClr val="0070C0"/>
                </a:solidFill>
                <a:latin typeface="Times New Roman" panose="02020503050405090304"/>
                <a:ea typeface="Times New Roman" panose="02020503050405090304"/>
                <a:cs typeface="Times New Roman" panose="02020503050405090304"/>
                <a:sym typeface="Times New Roman" panose="02020503050405090304"/>
              </a:defRPr>
            </a:lvl6pPr>
            <a:lvl7pPr marL="0" lvl="6" indent="0" algn="r">
              <a:spcBef>
                <a:spcPts val="0"/>
              </a:spcBef>
              <a:buNone/>
              <a:defRPr sz="1200" b="1">
                <a:solidFill>
                  <a:srgbClr val="0070C0"/>
                </a:solidFill>
                <a:latin typeface="Times New Roman" panose="02020503050405090304"/>
                <a:ea typeface="Times New Roman" panose="02020503050405090304"/>
                <a:cs typeface="Times New Roman" panose="02020503050405090304"/>
                <a:sym typeface="Times New Roman" panose="02020503050405090304"/>
              </a:defRPr>
            </a:lvl7pPr>
            <a:lvl8pPr marL="0" lvl="7" indent="0" algn="r">
              <a:spcBef>
                <a:spcPts val="0"/>
              </a:spcBef>
              <a:buNone/>
              <a:defRPr sz="1200" b="1">
                <a:solidFill>
                  <a:srgbClr val="0070C0"/>
                </a:solidFill>
                <a:latin typeface="Times New Roman" panose="02020503050405090304"/>
                <a:ea typeface="Times New Roman" panose="02020503050405090304"/>
                <a:cs typeface="Times New Roman" panose="02020503050405090304"/>
                <a:sym typeface="Times New Roman" panose="02020503050405090304"/>
              </a:defRPr>
            </a:lvl8pPr>
            <a:lvl9pPr marL="0" lvl="8" indent="0" algn="r">
              <a:spcBef>
                <a:spcPts val="0"/>
              </a:spcBef>
              <a:buNone/>
              <a:defRPr sz="1200" b="1">
                <a:solidFill>
                  <a:srgbClr val="0070C0"/>
                </a:solidFill>
                <a:latin typeface="Times New Roman" panose="02020503050405090304"/>
                <a:ea typeface="Times New Roman" panose="02020503050405090304"/>
                <a:cs typeface="Times New Roman" panose="02020503050405090304"/>
                <a:sym typeface="Times New Roman" panose="020205030504050903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transition>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40"/>
        <p:cNvGrpSpPr/>
        <p:nvPr/>
      </p:nvGrpSpPr>
      <p:grpSpPr>
        <a:xfrm>
          <a:off x="0" y="0"/>
          <a:ext cx="0" cy="0"/>
          <a:chOff x="0" y="0"/>
          <a:chExt cx="0" cy="0"/>
        </a:xfrm>
      </p:grpSpPr>
      <p:sp>
        <p:nvSpPr>
          <p:cNvPr id="41" name="Google Shape;41;p4"/>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200" b="1">
                <a:latin typeface="Times New Roman" panose="02020503050405090304"/>
                <a:ea typeface="Times New Roman" panose="02020503050405090304"/>
                <a:cs typeface="Times New Roman" panose="02020503050405090304"/>
                <a:sym typeface="Times New Roman" panose="02020503050405090304"/>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4"/>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43" name="Google Shape;43;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a:solidFill>
                  <a:srgbClr val="0070C0"/>
                </a:solidFill>
                <a:latin typeface="Times New Roman" panose="02020503050405090304"/>
                <a:ea typeface="Times New Roman" panose="02020503050405090304"/>
                <a:cs typeface="Times New Roman" panose="02020503050405090304"/>
                <a:sym typeface="Times New Roman" panose="02020503050405090304"/>
              </a:defRPr>
            </a:lvl1pPr>
            <a:lvl2pPr marL="0" lvl="1" indent="0" algn="r">
              <a:spcBef>
                <a:spcPts val="0"/>
              </a:spcBef>
              <a:buNone/>
              <a:defRPr sz="1200" b="1">
                <a:solidFill>
                  <a:srgbClr val="0070C0"/>
                </a:solidFill>
                <a:latin typeface="Times New Roman" panose="02020503050405090304"/>
                <a:ea typeface="Times New Roman" panose="02020503050405090304"/>
                <a:cs typeface="Times New Roman" panose="02020503050405090304"/>
                <a:sym typeface="Times New Roman" panose="02020503050405090304"/>
              </a:defRPr>
            </a:lvl2pPr>
            <a:lvl3pPr marL="0" lvl="2" indent="0" algn="r">
              <a:spcBef>
                <a:spcPts val="0"/>
              </a:spcBef>
              <a:buNone/>
              <a:defRPr sz="1200" b="1">
                <a:solidFill>
                  <a:srgbClr val="0070C0"/>
                </a:solidFill>
                <a:latin typeface="Times New Roman" panose="02020503050405090304"/>
                <a:ea typeface="Times New Roman" panose="02020503050405090304"/>
                <a:cs typeface="Times New Roman" panose="02020503050405090304"/>
                <a:sym typeface="Times New Roman" panose="02020503050405090304"/>
              </a:defRPr>
            </a:lvl3pPr>
            <a:lvl4pPr marL="0" lvl="3" indent="0" algn="r">
              <a:spcBef>
                <a:spcPts val="0"/>
              </a:spcBef>
              <a:buNone/>
              <a:defRPr sz="1200" b="1">
                <a:solidFill>
                  <a:srgbClr val="0070C0"/>
                </a:solidFill>
                <a:latin typeface="Times New Roman" panose="02020503050405090304"/>
                <a:ea typeface="Times New Roman" panose="02020503050405090304"/>
                <a:cs typeface="Times New Roman" panose="02020503050405090304"/>
                <a:sym typeface="Times New Roman" panose="02020503050405090304"/>
              </a:defRPr>
            </a:lvl4pPr>
            <a:lvl5pPr marL="0" lvl="4" indent="0" algn="r">
              <a:spcBef>
                <a:spcPts val="0"/>
              </a:spcBef>
              <a:buNone/>
              <a:defRPr sz="1200" b="1">
                <a:solidFill>
                  <a:srgbClr val="0070C0"/>
                </a:solidFill>
                <a:latin typeface="Times New Roman" panose="02020503050405090304"/>
                <a:ea typeface="Times New Roman" panose="02020503050405090304"/>
                <a:cs typeface="Times New Roman" panose="02020503050405090304"/>
                <a:sym typeface="Times New Roman" panose="02020503050405090304"/>
              </a:defRPr>
            </a:lvl5pPr>
            <a:lvl6pPr marL="0" lvl="5" indent="0" algn="r">
              <a:spcBef>
                <a:spcPts val="0"/>
              </a:spcBef>
              <a:buNone/>
              <a:defRPr sz="1200" b="1">
                <a:solidFill>
                  <a:srgbClr val="0070C0"/>
                </a:solidFill>
                <a:latin typeface="Times New Roman" panose="02020503050405090304"/>
                <a:ea typeface="Times New Roman" panose="02020503050405090304"/>
                <a:cs typeface="Times New Roman" panose="02020503050405090304"/>
                <a:sym typeface="Times New Roman" panose="02020503050405090304"/>
              </a:defRPr>
            </a:lvl6pPr>
            <a:lvl7pPr marL="0" lvl="6" indent="0" algn="r">
              <a:spcBef>
                <a:spcPts val="0"/>
              </a:spcBef>
              <a:buNone/>
              <a:defRPr sz="1200" b="1">
                <a:solidFill>
                  <a:srgbClr val="0070C0"/>
                </a:solidFill>
                <a:latin typeface="Times New Roman" panose="02020503050405090304"/>
                <a:ea typeface="Times New Roman" panose="02020503050405090304"/>
                <a:cs typeface="Times New Roman" panose="02020503050405090304"/>
                <a:sym typeface="Times New Roman" panose="02020503050405090304"/>
              </a:defRPr>
            </a:lvl7pPr>
            <a:lvl8pPr marL="0" lvl="7" indent="0" algn="r">
              <a:spcBef>
                <a:spcPts val="0"/>
              </a:spcBef>
              <a:buNone/>
              <a:defRPr sz="1200" b="1">
                <a:solidFill>
                  <a:srgbClr val="0070C0"/>
                </a:solidFill>
                <a:latin typeface="Times New Roman" panose="02020503050405090304"/>
                <a:ea typeface="Times New Roman" panose="02020503050405090304"/>
                <a:cs typeface="Times New Roman" panose="02020503050405090304"/>
                <a:sym typeface="Times New Roman" panose="02020503050405090304"/>
              </a:defRPr>
            </a:lvl8pPr>
            <a:lvl9pPr marL="0" lvl="8" indent="0" algn="r">
              <a:spcBef>
                <a:spcPts val="0"/>
              </a:spcBef>
              <a:buNone/>
              <a:defRPr sz="1200" b="1">
                <a:solidFill>
                  <a:srgbClr val="0070C0"/>
                </a:solidFill>
                <a:latin typeface="Times New Roman" panose="02020503050405090304"/>
                <a:ea typeface="Times New Roman" panose="02020503050405090304"/>
                <a:cs typeface="Times New Roman" panose="02020503050405090304"/>
                <a:sym typeface="Times New Roman" panose="020205030504050903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2.jpeg"/><Relationship Id="rId4" Type="http://schemas.openxmlformats.org/officeDocument/2006/relationships/image" Target="../media/image1.pn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9pPr>
          </a:lstStyle>
          <a:p/>
        </p:txBody>
      </p:sp>
      <p:sp>
        <p:nvSpPr>
          <p:cNvPr id="11" name="Google Shape;11;p1"/>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panose="020B0604020202090204"/>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9pPr>
          </a:lstStyle>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1" i="0" u="none" strike="noStrike" cap="none">
                <a:solidFill>
                  <a:srgbClr val="0070C0"/>
                </a:solidFill>
                <a:latin typeface="Times New Roman" panose="02020503050405090304"/>
                <a:ea typeface="Times New Roman" panose="02020503050405090304"/>
                <a:cs typeface="Times New Roman" panose="02020503050405090304"/>
                <a:sym typeface="Times New Roman" panose="02020503050405090304"/>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1" i="0" u="none" strike="noStrike" cap="none">
                <a:solidFill>
                  <a:srgbClr val="0070C0"/>
                </a:solidFill>
                <a:latin typeface="Times New Roman" panose="02020503050405090304"/>
                <a:ea typeface="Times New Roman" panose="02020503050405090304"/>
                <a:cs typeface="Times New Roman" panose="02020503050405090304"/>
                <a:sym typeface="Times New Roman" panose="02020503050405090304"/>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1" i="0" u="none" strike="noStrike" cap="none">
                <a:solidFill>
                  <a:srgbClr val="0070C0"/>
                </a:solidFill>
                <a:latin typeface="Times New Roman" panose="02020503050405090304"/>
                <a:ea typeface="Times New Roman" panose="02020503050405090304"/>
                <a:cs typeface="Times New Roman" panose="02020503050405090304"/>
                <a:sym typeface="Times New Roman" panose="02020503050405090304"/>
              </a:defRPr>
            </a:lvl1pPr>
            <a:lvl2pPr marL="0" marR="0" lvl="1" indent="0" algn="r" rtl="0">
              <a:spcBef>
                <a:spcPts val="0"/>
              </a:spcBef>
              <a:buNone/>
              <a:defRPr sz="1200" b="1" i="0" u="none" strike="noStrike" cap="none">
                <a:solidFill>
                  <a:srgbClr val="0070C0"/>
                </a:solidFill>
                <a:latin typeface="Times New Roman" panose="02020503050405090304"/>
                <a:ea typeface="Times New Roman" panose="02020503050405090304"/>
                <a:cs typeface="Times New Roman" panose="02020503050405090304"/>
                <a:sym typeface="Times New Roman" panose="02020503050405090304"/>
              </a:defRPr>
            </a:lvl2pPr>
            <a:lvl3pPr marL="0" marR="0" lvl="2" indent="0" algn="r" rtl="0">
              <a:spcBef>
                <a:spcPts val="0"/>
              </a:spcBef>
              <a:buNone/>
              <a:defRPr sz="1200" b="1" i="0" u="none" strike="noStrike" cap="none">
                <a:solidFill>
                  <a:srgbClr val="0070C0"/>
                </a:solidFill>
                <a:latin typeface="Times New Roman" panose="02020503050405090304"/>
                <a:ea typeface="Times New Roman" panose="02020503050405090304"/>
                <a:cs typeface="Times New Roman" panose="02020503050405090304"/>
                <a:sym typeface="Times New Roman" panose="02020503050405090304"/>
              </a:defRPr>
            </a:lvl3pPr>
            <a:lvl4pPr marL="0" marR="0" lvl="3" indent="0" algn="r" rtl="0">
              <a:spcBef>
                <a:spcPts val="0"/>
              </a:spcBef>
              <a:buNone/>
              <a:defRPr sz="1200" b="1" i="0" u="none" strike="noStrike" cap="none">
                <a:solidFill>
                  <a:srgbClr val="0070C0"/>
                </a:solidFill>
                <a:latin typeface="Times New Roman" panose="02020503050405090304"/>
                <a:ea typeface="Times New Roman" panose="02020503050405090304"/>
                <a:cs typeface="Times New Roman" panose="02020503050405090304"/>
                <a:sym typeface="Times New Roman" panose="02020503050405090304"/>
              </a:defRPr>
            </a:lvl4pPr>
            <a:lvl5pPr marL="0" marR="0" lvl="4" indent="0" algn="r" rtl="0">
              <a:spcBef>
                <a:spcPts val="0"/>
              </a:spcBef>
              <a:buNone/>
              <a:defRPr sz="1200" b="1" i="0" u="none" strike="noStrike" cap="none">
                <a:solidFill>
                  <a:srgbClr val="0070C0"/>
                </a:solidFill>
                <a:latin typeface="Times New Roman" panose="02020503050405090304"/>
                <a:ea typeface="Times New Roman" panose="02020503050405090304"/>
                <a:cs typeface="Times New Roman" panose="02020503050405090304"/>
                <a:sym typeface="Times New Roman" panose="02020503050405090304"/>
              </a:defRPr>
            </a:lvl5pPr>
            <a:lvl6pPr marL="0" marR="0" lvl="5" indent="0" algn="r" rtl="0">
              <a:spcBef>
                <a:spcPts val="0"/>
              </a:spcBef>
              <a:buNone/>
              <a:defRPr sz="1200" b="1" i="0" u="none" strike="noStrike" cap="none">
                <a:solidFill>
                  <a:srgbClr val="0070C0"/>
                </a:solidFill>
                <a:latin typeface="Times New Roman" panose="02020503050405090304"/>
                <a:ea typeface="Times New Roman" panose="02020503050405090304"/>
                <a:cs typeface="Times New Roman" panose="02020503050405090304"/>
                <a:sym typeface="Times New Roman" panose="02020503050405090304"/>
              </a:defRPr>
            </a:lvl6pPr>
            <a:lvl7pPr marL="0" marR="0" lvl="6" indent="0" algn="r" rtl="0">
              <a:spcBef>
                <a:spcPts val="0"/>
              </a:spcBef>
              <a:buNone/>
              <a:defRPr sz="1200" b="1" i="0" u="none" strike="noStrike" cap="none">
                <a:solidFill>
                  <a:srgbClr val="0070C0"/>
                </a:solidFill>
                <a:latin typeface="Times New Roman" panose="02020503050405090304"/>
                <a:ea typeface="Times New Roman" panose="02020503050405090304"/>
                <a:cs typeface="Times New Roman" panose="02020503050405090304"/>
                <a:sym typeface="Times New Roman" panose="02020503050405090304"/>
              </a:defRPr>
            </a:lvl7pPr>
            <a:lvl8pPr marL="0" marR="0" lvl="7" indent="0" algn="r" rtl="0">
              <a:spcBef>
                <a:spcPts val="0"/>
              </a:spcBef>
              <a:buNone/>
              <a:defRPr sz="1200" b="1" i="0" u="none" strike="noStrike" cap="none">
                <a:solidFill>
                  <a:srgbClr val="0070C0"/>
                </a:solidFill>
                <a:latin typeface="Times New Roman" panose="02020503050405090304"/>
                <a:ea typeface="Times New Roman" panose="02020503050405090304"/>
                <a:cs typeface="Times New Roman" panose="02020503050405090304"/>
                <a:sym typeface="Times New Roman" panose="02020503050405090304"/>
              </a:defRPr>
            </a:lvl8pPr>
            <a:lvl9pPr marL="0" marR="0" lvl="8" indent="0" algn="r" rtl="0">
              <a:spcBef>
                <a:spcPts val="0"/>
              </a:spcBef>
              <a:buNone/>
              <a:defRPr sz="1200" b="1" i="0" u="none" strike="noStrike" cap="none">
                <a:solidFill>
                  <a:srgbClr val="0070C0"/>
                </a:solidFill>
                <a:latin typeface="Times New Roman" panose="02020503050405090304"/>
                <a:ea typeface="Times New Roman" panose="02020503050405090304"/>
                <a:cs typeface="Times New Roman" panose="02020503050405090304"/>
                <a:sym typeface="Times New Roman" panose="02020503050405090304"/>
              </a:defRPr>
            </a:lvl9pPr>
          </a:lstStyle>
          <a:p>
            <a:pPr marL="0" lvl="0" indent="0" algn="r" rtl="0">
              <a:spcBef>
                <a:spcPts val="0"/>
              </a:spcBef>
              <a:spcAft>
                <a:spcPts val="0"/>
              </a:spcAft>
              <a:buNone/>
            </a:pPr>
            <a:fld id="{00000000-1234-1234-1234-123412341234}" type="slidenum">
              <a:rPr lang="en-IN"/>
            </a:fld>
            <a:endParaRPr lang="en-IN"/>
          </a:p>
        </p:txBody>
      </p:sp>
      <p:sp>
        <p:nvSpPr>
          <p:cNvPr id="15" name="Google Shape;15;p1"/>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 name="Google Shape;16;p1"/>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7" name="Google Shape;17;p1" descr="LOGO.gif"/>
          <p:cNvPicPr preferRelativeResize="0"/>
          <p:nvPr/>
        </p:nvPicPr>
        <p:blipFill rotWithShape="1">
          <a:blip r:embed="rId4"/>
          <a:srcRect b="10713"/>
          <a:stretch>
            <a:fillRect/>
          </a:stretch>
        </p:blipFill>
        <p:spPr>
          <a:xfrm>
            <a:off x="6553200" y="228600"/>
            <a:ext cx="2057400" cy="635000"/>
          </a:xfrm>
          <a:prstGeom prst="rect">
            <a:avLst/>
          </a:prstGeom>
          <a:noFill/>
          <a:ln>
            <a:noFill/>
          </a:ln>
        </p:spPr>
      </p:pic>
      <p:pic>
        <p:nvPicPr>
          <p:cNvPr id="18" name="Google Shape;18;p1" descr="LOGO.gif"/>
          <p:cNvPicPr preferRelativeResize="0"/>
          <p:nvPr/>
        </p:nvPicPr>
        <p:blipFill rotWithShape="1">
          <a:blip r:embed="rId4"/>
          <a:srcRect b="10713"/>
          <a:stretch>
            <a:fillRect/>
          </a:stretch>
        </p:blipFill>
        <p:spPr>
          <a:xfrm>
            <a:off x="6553200" y="228600"/>
            <a:ext cx="2057400" cy="635000"/>
          </a:xfrm>
          <a:prstGeom prst="rect">
            <a:avLst/>
          </a:prstGeom>
          <a:noFill/>
          <a:ln>
            <a:noFill/>
          </a:ln>
        </p:spPr>
      </p:pic>
      <p:grpSp>
        <p:nvGrpSpPr>
          <p:cNvPr id="19" name="Google Shape;19;p1"/>
          <p:cNvGrpSpPr/>
          <p:nvPr/>
        </p:nvGrpSpPr>
        <p:grpSpPr>
          <a:xfrm>
            <a:off x="6146800" y="0"/>
            <a:ext cx="2997200" cy="876300"/>
            <a:chOff x="6096000" y="3924300"/>
            <a:chExt cx="2997200" cy="876300"/>
          </a:xfrm>
        </p:grpSpPr>
        <p:sp>
          <p:nvSpPr>
            <p:cNvPr id="20" name="Google Shape;20;p1"/>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1" name="Google Shape;21;p1" descr="LOGO.gif"/>
            <p:cNvPicPr preferRelativeResize="0"/>
            <p:nvPr/>
          </p:nvPicPr>
          <p:blipFill rotWithShape="1">
            <a:blip r:embed="rId4"/>
            <a:srcRect b="10713"/>
            <a:stretch>
              <a:fillRect/>
            </a:stretch>
          </p:blipFill>
          <p:spPr>
            <a:xfrm>
              <a:off x="6502400" y="4152900"/>
              <a:ext cx="2057400" cy="635000"/>
            </a:xfrm>
            <a:prstGeom prst="rect">
              <a:avLst/>
            </a:prstGeom>
            <a:noFill/>
            <a:ln>
              <a:noFill/>
            </a:ln>
          </p:spPr>
        </p:pic>
        <p:sp>
          <p:nvSpPr>
            <p:cNvPr id="22" name="Google Shape;22;p1"/>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pic>
        <p:nvPicPr>
          <p:cNvPr id="23" name="Google Shape;23;p1" descr="logo.jpg"/>
          <p:cNvPicPr preferRelativeResize="0"/>
          <p:nvPr/>
        </p:nvPicPr>
        <p:blipFill rotWithShape="1">
          <a:blip r:embed="rId5"/>
          <a:srcRect/>
          <a:stretch>
            <a:fill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8.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9" Type="http://schemas.openxmlformats.org/officeDocument/2006/relationships/hyperlink" Target="https://sendbird.com/" TargetMode="External"/><Relationship Id="rId8" Type="http://schemas.openxmlformats.org/officeDocument/2006/relationships/hyperlink" Target="https://www.mongodb.com/" TargetMode="External"/><Relationship Id="rId7" Type="http://schemas.openxmlformats.org/officeDocument/2006/relationships/hyperlink" Target="https://firebase.google.com/" TargetMode="External"/><Relationship Id="rId6" Type="http://schemas.openxmlformats.org/officeDocument/2006/relationships/hyperlink" Target="https://expressjs.com/" TargetMode="External"/><Relationship Id="rId5" Type="http://schemas.openxmlformats.org/officeDocument/2006/relationships/hyperlink" Target="https://nodejs.org/" TargetMode="External"/><Relationship Id="rId4" Type="http://schemas.openxmlformats.org/officeDocument/2006/relationships/hyperlink" Target="https://www.framer.com/motion/" TargetMode="External"/><Relationship Id="rId3" Type="http://schemas.openxmlformats.org/officeDocument/2006/relationships/hyperlink" Target="https://tailwindcss.com/docs" TargetMode="External"/><Relationship Id="rId2" Type="http://schemas.openxmlformats.org/officeDocument/2006/relationships/hyperlink" Target="https://nextjs.org/docs" TargetMode="External"/><Relationship Id="rId11" Type="http://schemas.openxmlformats.org/officeDocument/2006/relationships/notesSlide" Target="../notesSlides/notesSlide18.xml"/><Relationship Id="rId10" Type="http://schemas.openxmlformats.org/officeDocument/2006/relationships/slideLayout" Target="../slideLayouts/slideLayout1.xml"/><Relationship Id="rId1" Type="http://schemas.openxmlformats.org/officeDocument/2006/relationships/hyperlink" Target="https://github.com/stoicbrains/Real-Time-Exercise-Detection-and-Mental-Wellness-Recommendation-System-2163-1791-1787-1835-" TargetMode="Externa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fld>
            <a:endParaRPr lang="en-IN"/>
          </a:p>
        </p:txBody>
      </p:sp>
      <p:sp>
        <p:nvSpPr>
          <p:cNvPr id="51" name="Google Shape;51;p5"/>
          <p:cNvSpPr txBox="1"/>
          <p:nvPr/>
        </p:nvSpPr>
        <p:spPr>
          <a:xfrm>
            <a:off x="611560" y="1124744"/>
            <a:ext cx="7632900" cy="56299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IN" sz="1800" b="1" dirty="0">
                <a:solidFill>
                  <a:schemeClr val="dk1"/>
                </a:solidFill>
                <a:latin typeface="Times New Roman" panose="02020503050405090304"/>
                <a:ea typeface="Times New Roman" panose="02020503050405090304"/>
                <a:cs typeface="Times New Roman" panose="02020503050405090304"/>
                <a:sym typeface="Times New Roman" panose="02020503050405090304"/>
              </a:rPr>
              <a:t>COPYRIGHT</a:t>
            </a:r>
            <a:endParaRPr lang="en-IN" sz="1800" b="1" dirty="0">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ctr" rtl="0">
              <a:lnSpc>
                <a:spcPct val="100000"/>
              </a:lnSpc>
              <a:spcBef>
                <a:spcPts val="400"/>
              </a:spcBef>
              <a:spcAft>
                <a:spcPts val="0"/>
              </a:spcAft>
              <a:buNone/>
            </a:pPr>
            <a:r>
              <a:rPr lang="en-IN" sz="1800" dirty="0">
                <a:solidFill>
                  <a:schemeClr val="dk1"/>
                </a:solidFill>
                <a:latin typeface="Times New Roman" panose="02020503050405090304"/>
                <a:ea typeface="Times New Roman" panose="02020503050405090304"/>
                <a:cs typeface="Times New Roman" panose="02020503050405090304"/>
                <a:sym typeface="Times New Roman" panose="02020503050405090304"/>
              </a:rPr>
              <a:t>On</a:t>
            </a:r>
            <a:endParaRPr lang="en-IN" sz="1800" dirty="0">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ctr" rtl="0">
              <a:lnSpc>
                <a:spcPct val="100000"/>
              </a:lnSpc>
              <a:spcBef>
                <a:spcPts val="400"/>
              </a:spcBef>
              <a:spcAft>
                <a:spcPts val="0"/>
              </a:spcAft>
              <a:buNone/>
            </a:pPr>
            <a:r>
              <a:rPr lang="en-IN" sz="1800" dirty="0">
                <a:solidFill>
                  <a:schemeClr val="dk1"/>
                </a:solidFill>
                <a:latin typeface="Times New Roman" panose="02020503050405090304"/>
                <a:cs typeface="Times New Roman" panose="02020503050405090304"/>
                <a:sym typeface="Times New Roman" panose="02020503050405090304"/>
              </a:rPr>
              <a:t>PROJECT</a:t>
            </a:r>
            <a:endParaRPr lang="en-IN" dirty="0"/>
          </a:p>
          <a:p>
            <a:pPr marL="0" marR="0" lvl="0" indent="0" algn="ctr" rtl="0">
              <a:lnSpc>
                <a:spcPct val="100000"/>
              </a:lnSpc>
              <a:spcBef>
                <a:spcPts val="400"/>
              </a:spcBef>
              <a:spcAft>
                <a:spcPts val="0"/>
              </a:spcAft>
              <a:buNone/>
            </a:pPr>
            <a:r>
              <a:rPr lang="en-US" altLang="en-US" sz="3200" b="1" i="1" dirty="0">
                <a:solidFill>
                  <a:schemeClr val="dk1"/>
                </a:solidFill>
                <a:latin typeface="Times New Roman" panose="02020503050405090304"/>
                <a:ea typeface="Times New Roman" panose="02020503050405090304"/>
                <a:cs typeface="Times New Roman" panose="02020503050405090304"/>
                <a:sym typeface="Times New Roman" panose="02020503050405090304"/>
              </a:rPr>
              <a:t>Real-Time-Exercise-Detection-and-Mental-Wellness-Recommendation-System</a:t>
            </a:r>
            <a:endParaRPr lang="en-US" altLang="en-US" sz="3200" b="1" i="1" dirty="0">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ctr" rtl="0">
              <a:lnSpc>
                <a:spcPct val="100000"/>
              </a:lnSpc>
              <a:spcBef>
                <a:spcPts val="400"/>
              </a:spcBef>
              <a:spcAft>
                <a:spcPts val="0"/>
              </a:spcAft>
              <a:buNone/>
            </a:pPr>
            <a:br>
              <a:rPr lang="en-IN" sz="1800" b="0" strike="noStrike" dirty="0">
                <a:solidFill>
                  <a:srgbClr val="000000"/>
                </a:solidFill>
                <a:latin typeface="Times New Roman" panose="02020503050405090304"/>
                <a:ea typeface="Times New Roman" panose="02020503050405090304"/>
                <a:cs typeface="Times New Roman" panose="02020503050405090304"/>
                <a:sym typeface="Times New Roman" panose="02020503050405090304"/>
              </a:rPr>
            </a:br>
            <a:r>
              <a:rPr lang="en-IN" sz="1800" b="0" strike="noStrike" dirty="0">
                <a:solidFill>
                  <a:srgbClr val="000000"/>
                </a:solidFill>
                <a:latin typeface="Times New Roman" panose="02020503050405090304"/>
                <a:ea typeface="Times New Roman" panose="02020503050405090304"/>
                <a:cs typeface="Times New Roman" panose="02020503050405090304"/>
                <a:sym typeface="Times New Roman" panose="02020503050405090304"/>
              </a:rPr>
              <a:t> </a:t>
            </a:r>
            <a:r>
              <a:rPr lang="en-IN" sz="1800" dirty="0">
                <a:latin typeface="Times New Roman" panose="02020503050405090304"/>
                <a:ea typeface="Times New Roman" panose="02020503050405090304"/>
                <a:cs typeface="Times New Roman" panose="02020503050405090304"/>
                <a:sym typeface="Times New Roman" panose="02020503050405090304"/>
              </a:rPr>
              <a:t>Keshav Soni </a:t>
            </a:r>
            <a:r>
              <a:rPr lang="en-IN" sz="1800" dirty="0">
                <a:solidFill>
                  <a:srgbClr val="000000"/>
                </a:solidFill>
                <a:latin typeface="Times New Roman" panose="02020503050405090304"/>
                <a:ea typeface="Times New Roman" panose="02020503050405090304"/>
                <a:cs typeface="Times New Roman" panose="02020503050405090304"/>
                <a:sym typeface="Times New Roman" panose="02020503050405090304"/>
              </a:rPr>
              <a:t>    2210991787</a:t>
            </a:r>
            <a:endParaRPr dirty="0"/>
          </a:p>
          <a:p>
            <a:pPr marL="0" marR="0" lvl="0" indent="0" algn="ctr" rtl="0">
              <a:lnSpc>
                <a:spcPct val="100000"/>
              </a:lnSpc>
              <a:spcBef>
                <a:spcPts val="400"/>
              </a:spcBef>
              <a:spcAft>
                <a:spcPts val="0"/>
              </a:spcAft>
              <a:buNone/>
            </a:pPr>
            <a:r>
              <a:rPr lang="en-IN" sz="1800" dirty="0">
                <a:latin typeface="Times New Roman" panose="02020503050405090304"/>
                <a:ea typeface="Times New Roman" panose="02020503050405090304"/>
                <a:cs typeface="Times New Roman" panose="02020503050405090304"/>
                <a:sym typeface="Times New Roman" panose="02020503050405090304"/>
              </a:rPr>
              <a:t>Khushal Goyal</a:t>
            </a:r>
            <a:r>
              <a:rPr lang="en-IN" sz="1800" dirty="0">
                <a:solidFill>
                  <a:srgbClr val="000000"/>
                </a:solidFill>
                <a:latin typeface="Times New Roman" panose="02020503050405090304"/>
                <a:ea typeface="Times New Roman" panose="02020503050405090304"/>
                <a:cs typeface="Times New Roman" panose="02020503050405090304"/>
                <a:sym typeface="Times New Roman" panose="02020503050405090304"/>
              </a:rPr>
              <a:t> 2210991791</a:t>
            </a:r>
            <a:endParaRPr dirty="0"/>
          </a:p>
          <a:p>
            <a:pPr marL="0" marR="0" lvl="0" indent="0" algn="ctr" rtl="0">
              <a:lnSpc>
                <a:spcPct val="100000"/>
              </a:lnSpc>
              <a:spcBef>
                <a:spcPts val="400"/>
              </a:spcBef>
              <a:spcAft>
                <a:spcPts val="0"/>
              </a:spcAft>
              <a:buNone/>
            </a:pPr>
            <a:r>
              <a:rPr lang="en-IN" sz="1800" dirty="0">
                <a:latin typeface="Times New Roman" panose="02020503050405090304"/>
                <a:ea typeface="Times New Roman" panose="02020503050405090304"/>
                <a:cs typeface="Times New Roman" panose="02020503050405090304"/>
                <a:sym typeface="Times New Roman" panose="02020503050405090304"/>
              </a:rPr>
              <a:t>Kushal Goel    </a:t>
            </a:r>
            <a:r>
              <a:rPr lang="en-IN" sz="1800" dirty="0">
                <a:solidFill>
                  <a:srgbClr val="000000"/>
                </a:solidFill>
                <a:latin typeface="Times New Roman" panose="02020503050405090304"/>
                <a:ea typeface="Times New Roman" panose="02020503050405090304"/>
                <a:cs typeface="Times New Roman" panose="02020503050405090304"/>
                <a:sym typeface="Times New Roman" panose="02020503050405090304"/>
              </a:rPr>
              <a:t> 2210991835</a:t>
            </a:r>
            <a:endParaRPr sz="1800" dirty="0">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ctr" rtl="0">
              <a:lnSpc>
                <a:spcPct val="100000"/>
              </a:lnSpc>
              <a:spcBef>
                <a:spcPts val="400"/>
              </a:spcBef>
              <a:spcAft>
                <a:spcPts val="0"/>
              </a:spcAft>
              <a:buNone/>
            </a:pPr>
            <a:r>
              <a:rPr lang="en-IN" sz="1800">
                <a:latin typeface="Times New Roman" panose="02020503050405090304"/>
                <a:ea typeface="Times New Roman" panose="02020503050405090304"/>
                <a:cs typeface="Times New Roman" panose="02020503050405090304"/>
                <a:sym typeface="Times New Roman" panose="02020503050405090304"/>
              </a:rPr>
              <a:t>Rishi Raj          </a:t>
            </a:r>
            <a:r>
              <a:rPr lang="en-IN" sz="1800" dirty="0">
                <a:latin typeface="Times New Roman" panose="02020503050405090304"/>
                <a:ea typeface="Times New Roman" panose="02020503050405090304"/>
                <a:cs typeface="Times New Roman" panose="02020503050405090304"/>
                <a:sym typeface="Times New Roman" panose="02020503050405090304"/>
              </a:rPr>
              <a:t>2210992163</a:t>
            </a:r>
            <a:endParaRPr sz="1800" dirty="0">
              <a:latin typeface="Times New Roman" panose="02020503050405090304"/>
              <a:ea typeface="Times New Roman" panose="02020503050405090304"/>
              <a:cs typeface="Times New Roman" panose="02020503050405090304"/>
              <a:sym typeface="Times New Roman" panose="02020503050405090304"/>
            </a:endParaRPr>
          </a:p>
          <a:p>
            <a:pPr marL="0" marR="0" lvl="0" indent="0" algn="ctr" rtl="0">
              <a:lnSpc>
                <a:spcPct val="100000"/>
              </a:lnSpc>
              <a:spcBef>
                <a:spcPts val="400"/>
              </a:spcBef>
              <a:spcAft>
                <a:spcPts val="0"/>
              </a:spcAft>
              <a:buNone/>
            </a:pPr>
            <a:endParaRPr sz="1800" b="0" strike="noStrike" dirty="0">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ctr" rtl="0">
              <a:lnSpc>
                <a:spcPct val="100000"/>
              </a:lnSpc>
              <a:spcBef>
                <a:spcPts val="400"/>
              </a:spcBef>
              <a:spcAft>
                <a:spcPts val="0"/>
              </a:spcAft>
              <a:buNone/>
            </a:pPr>
            <a:r>
              <a:rPr lang="en-IN" sz="1800" dirty="0">
                <a:solidFill>
                  <a:srgbClr val="000000"/>
                </a:solidFill>
                <a:latin typeface="Times New Roman" panose="02020503050405090304"/>
                <a:ea typeface="Times New Roman" panose="02020503050405090304"/>
                <a:cs typeface="Times New Roman" panose="02020503050405090304"/>
                <a:sym typeface="Times New Roman" panose="02020503050405090304"/>
              </a:rPr>
              <a:t>Supervised By</a:t>
            </a:r>
            <a:endParaRPr lang="en-IN" dirty="0">
              <a:ea typeface="Times New Roman" panose="02020503050405090304"/>
            </a:endParaRPr>
          </a:p>
          <a:p>
            <a:pPr marL="0" marR="0" lvl="0" indent="0" algn="ctr" rtl="0">
              <a:lnSpc>
                <a:spcPct val="100000"/>
              </a:lnSpc>
              <a:spcBef>
                <a:spcPts val="400"/>
              </a:spcBef>
              <a:spcAft>
                <a:spcPts val="0"/>
              </a:spcAft>
              <a:buNone/>
            </a:pPr>
            <a:r>
              <a:rPr lang="en-IN" sz="1800" b="0" strike="noStrike" dirty="0" err="1">
                <a:solidFill>
                  <a:srgbClr val="000000"/>
                </a:solidFill>
                <a:latin typeface="Times New Roman" panose="02020503050405090304"/>
                <a:ea typeface="Times New Roman" panose="02020503050405090304"/>
                <a:cs typeface="Times New Roman" panose="02020503050405090304"/>
                <a:sym typeface="Times New Roman" panose="02020503050405090304"/>
              </a:rPr>
              <a:t>Dr.</a:t>
            </a:r>
            <a:r>
              <a:rPr lang="en-IN" sz="1800" b="0" strike="noStrike" dirty="0">
                <a:solidFill>
                  <a:srgbClr val="000000"/>
                </a:solidFill>
                <a:latin typeface="Times New Roman" panose="02020503050405090304"/>
                <a:ea typeface="Times New Roman" panose="02020503050405090304"/>
                <a:cs typeface="Times New Roman" panose="02020503050405090304"/>
                <a:sym typeface="Times New Roman" panose="02020503050405090304"/>
              </a:rPr>
              <a:t> Lalit K. Sharma </a:t>
            </a:r>
            <a:endParaRPr lang="en-IN" sz="1800" b="0" strike="noStrike" dirty="0">
              <a:solidFill>
                <a:srgbClr val="000000"/>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ctr" rtl="0">
              <a:lnSpc>
                <a:spcPct val="100000"/>
              </a:lnSpc>
              <a:spcBef>
                <a:spcPts val="400"/>
              </a:spcBef>
              <a:spcAft>
                <a:spcPts val="0"/>
              </a:spcAft>
              <a:buNone/>
            </a:pPr>
            <a:r>
              <a:rPr lang="en-IN" sz="2000" dirty="0">
                <a:solidFill>
                  <a:schemeClr val="dk1"/>
                </a:solidFill>
                <a:latin typeface="Times New Roman" panose="02020503050405090304"/>
                <a:ea typeface="Times New Roman" panose="02020503050405090304"/>
                <a:cs typeface="Times New Roman" panose="02020503050405090304"/>
                <a:sym typeface="Times New Roman" panose="02020503050405090304"/>
              </a:rPr>
              <a:t>Department of </a:t>
            </a:r>
            <a:r>
              <a:rPr lang="en-IN" sz="2000" b="0" strike="noStrik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Computer Science and Engineering, </a:t>
            </a:r>
            <a:endParaRPr dirty="0"/>
          </a:p>
          <a:p>
            <a:pPr marL="0" marR="0" lvl="0" indent="0" algn="ctr" rtl="0">
              <a:lnSpc>
                <a:spcPct val="100000"/>
              </a:lnSpc>
              <a:spcBef>
                <a:spcPts val="400"/>
              </a:spcBef>
              <a:spcAft>
                <a:spcPts val="0"/>
              </a:spcAft>
              <a:buNone/>
            </a:pPr>
            <a:r>
              <a:rPr lang="en-IN" sz="2000" b="0" strike="noStrike" dirty="0" err="1">
                <a:solidFill>
                  <a:schemeClr val="dk1"/>
                </a:solidFill>
                <a:latin typeface="Times New Roman" panose="02020503050405090304"/>
                <a:ea typeface="Times New Roman" panose="02020503050405090304"/>
                <a:cs typeface="Times New Roman" panose="02020503050405090304"/>
                <a:sym typeface="Times New Roman" panose="02020503050405090304"/>
              </a:rPr>
              <a:t>Chitkara</a:t>
            </a:r>
            <a:r>
              <a:rPr lang="en-IN" sz="2000" b="0" strike="noStrik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University, Punjab</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IN" b="1" dirty="0"/>
              <a:t>Abstract</a:t>
            </a:r>
            <a:endParaRPr dirty="0"/>
          </a:p>
        </p:txBody>
      </p:sp>
      <p:sp>
        <p:nvSpPr>
          <p:cNvPr id="57" name="Google Shape;57;p6"/>
          <p:cNvSpPr txBox="1">
            <a:spLocks noGrp="1"/>
          </p:cNvSpPr>
          <p:nvPr>
            <p:ph type="body" idx="1"/>
          </p:nvPr>
        </p:nvSpPr>
        <p:spPr>
          <a:xfrm>
            <a:off x="0" y="852128"/>
            <a:ext cx="8229600" cy="5153744"/>
          </a:xfrm>
          <a:prstGeom prst="rect">
            <a:avLst/>
          </a:prstGeom>
          <a:noFill/>
          <a:ln>
            <a:noFill/>
          </a:ln>
        </p:spPr>
        <p:txBody>
          <a:bodyPr spcFirstLastPara="1" wrap="square" lIns="91425" tIns="45700" rIns="91425" bIns="45700" anchor="t" anchorCtr="0">
            <a:noAutofit/>
          </a:bodyPr>
          <a:lstStyle/>
          <a:p>
            <a:r>
              <a:rPr lang="en-US" sz="2000" dirty="0"/>
              <a:t>Project Harmony is a web-based mental health platform designed to connect individuals with qualified mental health professionals, including psychologists and psychiatrists. The platform enables real-time communication through video and voice calls, along with a secure chat system, ensuring timely and accessible support. It also features a community forum where users can share experiences and seek peer advice, promoting a supportive environment.</a:t>
            </a:r>
            <a:endParaRPr lang="en-US" sz="2000" dirty="0"/>
          </a:p>
          <a:p>
            <a:r>
              <a:rPr lang="en-US" sz="2000" dirty="0"/>
              <a:t>The system is built using modern web technologies, with Next.js for the frontend, Node.js and Express.js for the backend, and a hybrid database approach using Firebase Fire store for real-time communication and MongoDB for user and forum data. Firebase Authentication ensures secure user login and data protection, while Send bird integration powers seamless calling features.</a:t>
            </a:r>
            <a:endParaRPr lang="en-US" sz="2000" dirty="0"/>
          </a:p>
          <a:p>
            <a:pPr marL="342900" lvl="0" indent="-393700" algn="just" rtl="0">
              <a:spcBef>
                <a:spcPts val="0"/>
              </a:spcBef>
              <a:spcAft>
                <a:spcPts val="0"/>
              </a:spcAft>
              <a:buClr>
                <a:srgbClr val="0D0D0D"/>
              </a:buClr>
              <a:buSzPts val="2800"/>
              <a:buFont typeface="Times New Roman" panose="02020503050405090304"/>
              <a:buChar char="•"/>
            </a:pPr>
            <a:r>
              <a:rPr lang="en-US" sz="2000" dirty="0"/>
              <a:t>Project Harmony aims to provide a unified, secure, and scalable solution that combines professional consultation and community interaction, making mental health support more accessible, efficient, and user-friendly.</a:t>
            </a:r>
            <a:endParaRPr sz="2000" i="0" dirty="0">
              <a:solidFill>
                <a:srgbClr val="0D0D0D"/>
              </a:solidFill>
              <a:highlight>
                <a:srgbClr val="FFFFFF"/>
              </a:highlight>
            </a:endParaRPr>
          </a:p>
        </p:txBody>
      </p:sp>
      <p:sp>
        <p:nvSpPr>
          <p:cNvPr id="58" name="Google Shape;58;p6"/>
          <p:cNvSpPr txBox="1">
            <a:spLocks noGrp="1"/>
          </p:cNvSpPr>
          <p:nvPr>
            <p:ph type="sldNum" idx="12"/>
          </p:nvPr>
        </p:nvSpPr>
        <p:spPr>
          <a:xfrm>
            <a:off x="6553200" y="6376243"/>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7"/>
          <p:cNvSpPr txBox="1"/>
          <p:nvPr/>
        </p:nvSpPr>
        <p:spPr>
          <a:xfrm>
            <a:off x="467544" y="260648"/>
            <a:ext cx="540060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a:solidFill>
                  <a:schemeClr val="dk1"/>
                </a:solidFill>
                <a:latin typeface="Times New Roman" panose="02020503050405090304"/>
                <a:ea typeface="Times New Roman" panose="02020503050405090304"/>
                <a:cs typeface="Times New Roman" panose="02020503050405090304"/>
                <a:sym typeface="Times New Roman" panose="02020503050405090304"/>
              </a:rPr>
              <a:t>TABLE OF CONTENTS</a:t>
            </a:r>
            <a:endParaRPr sz="1800" b="1">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64" name="Google Shape;64;p7"/>
          <p:cNvSpPr txBox="1"/>
          <p:nvPr/>
        </p:nvSpPr>
        <p:spPr>
          <a:xfrm>
            <a:off x="611560" y="1117188"/>
            <a:ext cx="6912900" cy="4402200"/>
          </a:xfrm>
          <a:prstGeom prst="rect">
            <a:avLst/>
          </a:prstGeom>
          <a:noFill/>
          <a:ln>
            <a:noFill/>
          </a:ln>
        </p:spPr>
        <p:txBody>
          <a:bodyPr spcFirstLastPara="1" wrap="square" lIns="91425" tIns="45700" rIns="91425" bIns="45700" anchor="t" anchorCtr="0">
            <a:spAutoFit/>
          </a:bodyPr>
          <a:lstStyle/>
          <a:p>
            <a:pPr marL="0" marR="0" lvl="0" indent="-177800" algn="l" rtl="0">
              <a:spcBef>
                <a:spcPts val="0"/>
              </a:spcBef>
              <a:spcAft>
                <a:spcPts val="0"/>
              </a:spcAft>
              <a:buClr>
                <a:schemeClr val="dk1"/>
              </a:buClr>
              <a:buSzPts val="2800"/>
              <a:buFont typeface="Arial" panose="020B0604020202090204"/>
              <a:buChar char="•"/>
            </a:pPr>
            <a:r>
              <a:rPr lang="en-IN" sz="2800">
                <a:solidFill>
                  <a:schemeClr val="dk1"/>
                </a:solidFill>
                <a:latin typeface="Times New Roman" panose="02020503050405090304"/>
                <a:ea typeface="Times New Roman" panose="02020503050405090304"/>
                <a:cs typeface="Times New Roman" panose="02020503050405090304"/>
                <a:sym typeface="Times New Roman" panose="02020503050405090304"/>
              </a:rPr>
              <a:t>Introduction</a:t>
            </a:r>
            <a:endParaRPr lang="en-IN" sz="2800">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177800" algn="l" rtl="0">
              <a:spcBef>
                <a:spcPts val="0"/>
              </a:spcBef>
              <a:spcAft>
                <a:spcPts val="0"/>
              </a:spcAft>
              <a:buClr>
                <a:schemeClr val="dk1"/>
              </a:buClr>
              <a:buSzPts val="2800"/>
              <a:buFont typeface="Arial" panose="020B0604020202090204"/>
              <a:buChar char="•"/>
            </a:pPr>
            <a:r>
              <a:rPr lang="en-IN" sz="2800">
                <a:solidFill>
                  <a:schemeClr val="dk1"/>
                </a:solidFill>
                <a:latin typeface="Times New Roman" panose="02020503050405090304"/>
                <a:ea typeface="Times New Roman" panose="02020503050405090304"/>
                <a:cs typeface="Times New Roman" panose="02020503050405090304"/>
                <a:sym typeface="Times New Roman" panose="02020503050405090304"/>
              </a:rPr>
              <a:t>Problem Statement</a:t>
            </a:r>
            <a:endParaRPr lang="en-IN" sz="2800">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177800" algn="l" rtl="0">
              <a:spcBef>
                <a:spcPts val="0"/>
              </a:spcBef>
              <a:spcAft>
                <a:spcPts val="0"/>
              </a:spcAft>
              <a:buClr>
                <a:schemeClr val="dk1"/>
              </a:buClr>
              <a:buSzPts val="2800"/>
              <a:buFont typeface="Arial" panose="020B0604020202090204"/>
              <a:buChar char="•"/>
            </a:pPr>
            <a:r>
              <a:rPr lang="en-IN" sz="2800">
                <a:solidFill>
                  <a:schemeClr val="dk1"/>
                </a:solidFill>
                <a:latin typeface="Times New Roman" panose="02020503050405090304"/>
                <a:ea typeface="Times New Roman" panose="02020503050405090304"/>
                <a:cs typeface="Times New Roman" panose="02020503050405090304"/>
                <a:sym typeface="Times New Roman" panose="02020503050405090304"/>
              </a:rPr>
              <a:t>Technical Details</a:t>
            </a:r>
            <a:endParaRPr lang="en-IN" sz="2800">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177800" algn="l" rtl="0">
              <a:spcBef>
                <a:spcPts val="0"/>
              </a:spcBef>
              <a:spcAft>
                <a:spcPts val="0"/>
              </a:spcAft>
              <a:buClr>
                <a:schemeClr val="dk1"/>
              </a:buClr>
              <a:buSzPts val="2800"/>
              <a:buFont typeface="Arial" panose="020B0604020202090204"/>
              <a:buChar char="•"/>
            </a:pPr>
            <a:r>
              <a:rPr lang="en-IN" sz="2800">
                <a:solidFill>
                  <a:schemeClr val="dk1"/>
                </a:solidFill>
                <a:latin typeface="Times New Roman" panose="02020503050405090304"/>
                <a:ea typeface="Times New Roman" panose="02020503050405090304"/>
                <a:cs typeface="Times New Roman" panose="02020503050405090304"/>
                <a:sym typeface="Times New Roman" panose="02020503050405090304"/>
              </a:rPr>
              <a:t>Key Features </a:t>
            </a:r>
            <a:endParaRPr sz="2800">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177800" algn="l" rtl="0">
              <a:spcBef>
                <a:spcPts val="0"/>
              </a:spcBef>
              <a:spcAft>
                <a:spcPts val="0"/>
              </a:spcAft>
              <a:buClr>
                <a:schemeClr val="dk1"/>
              </a:buClr>
              <a:buSzPts val="2800"/>
              <a:buFont typeface="Times New Roman" panose="02020503050405090304"/>
              <a:buChar char="•"/>
            </a:pPr>
            <a:r>
              <a:rPr lang="en-IN" sz="2800">
                <a:solidFill>
                  <a:schemeClr val="dk1"/>
                </a:solidFill>
                <a:latin typeface="Times New Roman" panose="02020503050405090304"/>
                <a:ea typeface="Times New Roman" panose="02020503050405090304"/>
                <a:cs typeface="Times New Roman" panose="02020503050405090304"/>
                <a:sym typeface="Times New Roman" panose="02020503050405090304"/>
              </a:rPr>
              <a:t>Our Design</a:t>
            </a:r>
            <a:endParaRPr sz="2800">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177800" algn="l" rtl="0">
              <a:spcBef>
                <a:spcPts val="0"/>
              </a:spcBef>
              <a:spcAft>
                <a:spcPts val="0"/>
              </a:spcAft>
              <a:buClr>
                <a:schemeClr val="dk1"/>
              </a:buClr>
              <a:buSzPts val="2800"/>
              <a:buFont typeface="Arial" panose="020B0604020202090204"/>
              <a:buChar char="•"/>
            </a:pPr>
            <a:r>
              <a:rPr lang="en-IN" sz="2800">
                <a:solidFill>
                  <a:schemeClr val="dk1"/>
                </a:solidFill>
                <a:latin typeface="Times New Roman" panose="02020503050405090304"/>
                <a:ea typeface="Times New Roman" panose="02020503050405090304"/>
                <a:cs typeface="Times New Roman" panose="02020503050405090304"/>
                <a:sym typeface="Times New Roman" panose="02020503050405090304"/>
              </a:rPr>
              <a:t>Future Scope</a:t>
            </a:r>
            <a:endParaRPr lang="en-IN" sz="2800">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177800" algn="l" rtl="0">
              <a:spcBef>
                <a:spcPts val="0"/>
              </a:spcBef>
              <a:spcAft>
                <a:spcPts val="0"/>
              </a:spcAft>
              <a:buClr>
                <a:schemeClr val="dk1"/>
              </a:buClr>
              <a:buSzPts val="2800"/>
              <a:buFont typeface="Arial" panose="020B0604020202090204"/>
              <a:buChar char="•"/>
            </a:pPr>
            <a:r>
              <a:rPr lang="en-IN" sz="2800">
                <a:solidFill>
                  <a:schemeClr val="dk1"/>
                </a:solidFill>
                <a:latin typeface="Times New Roman" panose="02020503050405090304"/>
                <a:ea typeface="Times New Roman" panose="02020503050405090304"/>
                <a:cs typeface="Times New Roman" panose="02020503050405090304"/>
                <a:sym typeface="Times New Roman" panose="02020503050405090304"/>
              </a:rPr>
              <a:t>Conclusion</a:t>
            </a:r>
            <a:endParaRPr lang="en-IN" sz="2800">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177800" algn="l" rtl="0">
              <a:spcBef>
                <a:spcPts val="0"/>
              </a:spcBef>
              <a:spcAft>
                <a:spcPts val="0"/>
              </a:spcAft>
              <a:buClr>
                <a:schemeClr val="dk1"/>
              </a:buClr>
              <a:buSzPts val="2800"/>
              <a:buFont typeface="Arial" panose="020B0604020202090204"/>
              <a:buChar char="•"/>
            </a:pPr>
            <a:r>
              <a:rPr lang="en-IN" sz="2800">
                <a:solidFill>
                  <a:schemeClr val="dk1"/>
                </a:solidFill>
                <a:latin typeface="Times New Roman" panose="02020503050405090304"/>
                <a:ea typeface="Times New Roman" panose="02020503050405090304"/>
                <a:cs typeface="Times New Roman" panose="02020503050405090304"/>
                <a:sym typeface="Times New Roman" panose="02020503050405090304"/>
              </a:rPr>
              <a:t>References/Links used</a:t>
            </a:r>
            <a:endParaRPr lang="en-IN" sz="2800">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spcBef>
                <a:spcPts val="0"/>
              </a:spcBef>
              <a:spcAft>
                <a:spcPts val="0"/>
              </a:spcAft>
              <a:buClr>
                <a:schemeClr val="dk1"/>
              </a:buClr>
              <a:buSzPts val="2800"/>
              <a:buFont typeface="Arial" panose="020B0604020202090204"/>
              <a:buNone/>
            </a:pPr>
            <a:endParaRPr sz="2800">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spcBef>
                <a:spcPts val="0"/>
              </a:spcBef>
              <a:spcAft>
                <a:spcPts val="0"/>
              </a:spcAft>
              <a:buClr>
                <a:schemeClr val="dk1"/>
              </a:buClr>
              <a:buSzPts val="2800"/>
              <a:buFont typeface="Arial" panose="020B0604020202090204"/>
              <a:buNone/>
            </a:pPr>
            <a:endParaRPr sz="2800">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65" name="Google Shape;65;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8"/>
          <p:cNvSpPr txBox="1"/>
          <p:nvPr/>
        </p:nvSpPr>
        <p:spPr>
          <a:xfrm>
            <a:off x="467544" y="260648"/>
            <a:ext cx="540060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a:solidFill>
                  <a:schemeClr val="dk1"/>
                </a:solidFill>
                <a:latin typeface="Times New Roman" panose="02020503050405090304"/>
                <a:ea typeface="Times New Roman" panose="02020503050405090304"/>
                <a:cs typeface="Times New Roman" panose="02020503050405090304"/>
                <a:sym typeface="Times New Roman" panose="02020503050405090304"/>
              </a:rPr>
              <a:t>INTRODUCTION</a:t>
            </a:r>
            <a:endParaRPr lang="en-IN" sz="3200" b="1">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71" name="Google Shape;71;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fld>
            <a:endParaRPr lang="en-IN"/>
          </a:p>
        </p:txBody>
      </p:sp>
      <p:sp>
        <p:nvSpPr>
          <p:cNvPr id="72" name="Google Shape;72;p8"/>
          <p:cNvSpPr txBox="1"/>
          <p:nvPr/>
        </p:nvSpPr>
        <p:spPr>
          <a:xfrm>
            <a:off x="130091" y="1031856"/>
            <a:ext cx="8352900" cy="5324494"/>
          </a:xfrm>
          <a:prstGeom prst="rect">
            <a:avLst/>
          </a:prstGeom>
          <a:noFill/>
          <a:ln>
            <a:noFill/>
          </a:ln>
        </p:spPr>
        <p:txBody>
          <a:bodyPr spcFirstLastPara="1" wrap="square" lIns="91425" tIns="45700" rIns="91425" bIns="45700" anchor="t" anchorCtr="0">
            <a:spAutoFit/>
          </a:bodyPr>
          <a:lstStyle/>
          <a:p>
            <a:r>
              <a:rPr lang="en-US" sz="2000" dirty="0">
                <a:latin typeface="Times New Roman" panose="02020503050405090304" pitchFamily="18" charset="0"/>
                <a:cs typeface="Times New Roman" panose="02020503050405090304" pitchFamily="18" charset="0"/>
              </a:rPr>
              <a:t>Mental health issues are increasing rapidly due to stress, lifestyle changes, and social pressures. However, access to timely and reliable mental health support is still limited due to factors such as stigma, lack of awareness, high costs, and fragmented digital solutions. Many individuals struggle to find trusted professionals or platforms that provide both expert guidance and peer support in one place.</a:t>
            </a:r>
            <a:endParaRPr lang="en-US" sz="2000" dirty="0">
              <a:latin typeface="Times New Roman" panose="02020503050405090304" pitchFamily="18" charset="0"/>
              <a:cs typeface="Times New Roman" panose="02020503050405090304" pitchFamily="18" charset="0"/>
            </a:endParaRPr>
          </a:p>
          <a:p>
            <a:r>
              <a:rPr lang="en-US" sz="2000" dirty="0">
                <a:latin typeface="Times New Roman" panose="02020503050405090304" pitchFamily="18" charset="0"/>
                <a:cs typeface="Times New Roman" panose="02020503050405090304" pitchFamily="18" charset="0"/>
              </a:rPr>
              <a:t>Project Harmony is a web-based mental health platform designed to address these challenges by connecting users with qualified professionals, including psychologists and psychiatrists. It enables real-time communication through video calls, voice calls, and chat, ensuring quick and effective support. Additionally, the platform includes a community forum where users can share experiences and seek advice in a safe environment.</a:t>
            </a:r>
            <a:endParaRPr lang="en-US" sz="2000" dirty="0">
              <a:latin typeface="Times New Roman" panose="02020503050405090304" pitchFamily="18" charset="0"/>
              <a:cs typeface="Times New Roman" panose="02020503050405090304" pitchFamily="18" charset="0"/>
            </a:endParaRPr>
          </a:p>
          <a:p>
            <a:r>
              <a:rPr lang="en-US" sz="2000" dirty="0">
                <a:latin typeface="Times New Roman" panose="02020503050405090304" pitchFamily="18" charset="0"/>
                <a:cs typeface="Times New Roman" panose="02020503050405090304" pitchFamily="18" charset="0"/>
              </a:rPr>
              <a:t>Built using modern technologies like Next.js, Node.js, Firebase, and MongoDB, the system ensures performance, scalability, and security. Overall, Project Harmony aims to make mental health support more accessible, reliable, and user-friendly.</a:t>
            </a:r>
            <a:endParaRPr lang="en-US" sz="2000" dirty="0">
              <a:latin typeface="Times New Roman" panose="02020503050405090304" pitchFamily="18" charset="0"/>
              <a:cs typeface="Times New Roman" panose="02020503050405090304" pitchFamily="18" charset="0"/>
            </a:endParaRPr>
          </a:p>
          <a:p>
            <a:pPr marL="342900" marR="0" lvl="0" indent="-215900" algn="l" rtl="0">
              <a:spcBef>
                <a:spcPts val="0"/>
              </a:spcBef>
              <a:spcAft>
                <a:spcPts val="0"/>
              </a:spcAft>
              <a:buClr>
                <a:schemeClr val="dk1"/>
              </a:buClr>
              <a:buSzPts val="2000"/>
              <a:buFont typeface="Arial" panose="020B0604020202090204"/>
              <a:buNone/>
            </a:pPr>
            <a:endParaRPr sz="2000" dirty="0">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IN" b="1" dirty="0"/>
              <a:t>Introduction</a:t>
            </a:r>
            <a:endParaRPr dirty="0"/>
          </a:p>
        </p:txBody>
      </p:sp>
      <p:sp>
        <p:nvSpPr>
          <p:cNvPr id="78" name="Google Shape;78;p9"/>
          <p:cNvSpPr txBox="1">
            <a:spLocks noGrp="1"/>
          </p:cNvSpPr>
          <p:nvPr>
            <p:ph type="body" idx="1"/>
          </p:nvPr>
        </p:nvSpPr>
        <p:spPr>
          <a:xfrm rot="10800000" flipV="1">
            <a:off x="78657" y="4607496"/>
            <a:ext cx="8372168" cy="1270533"/>
          </a:xfrm>
          <a:prstGeom prst="rect">
            <a:avLst/>
          </a:prstGeom>
          <a:noFill/>
          <a:ln>
            <a:noFill/>
          </a:ln>
        </p:spPr>
        <p:txBody>
          <a:bodyPr spcFirstLastPara="1" wrap="square" lIns="91425" tIns="45700" rIns="91425" bIns="45700" anchor="t" anchorCtr="0">
            <a:noAutofit/>
          </a:bodyPr>
          <a:lstStyle/>
          <a:p>
            <a:r>
              <a:rPr lang="en-US" sz="2000" dirty="0"/>
              <a:t>Enables communication through:</a:t>
            </a:r>
            <a:endParaRPr lang="en-US" sz="2000" dirty="0"/>
          </a:p>
          <a:p>
            <a:pPr>
              <a:buFont typeface="Arial" panose="020B0604020202090204" pitchFamily="34" charset="0"/>
              <a:buChar char="•"/>
            </a:pPr>
            <a:r>
              <a:rPr lang="en-US" sz="2000" dirty="0"/>
              <a:t>Video calls </a:t>
            </a:r>
            <a:endParaRPr lang="en-US" sz="2000" dirty="0"/>
          </a:p>
          <a:p>
            <a:pPr>
              <a:buFont typeface="Arial" panose="020B0604020202090204" pitchFamily="34" charset="0"/>
              <a:buChar char="•"/>
            </a:pPr>
            <a:r>
              <a:rPr lang="en-US" sz="2000" dirty="0"/>
              <a:t>Voice calls </a:t>
            </a:r>
            <a:endParaRPr lang="en-US" sz="2000" dirty="0"/>
          </a:p>
          <a:p>
            <a:pPr>
              <a:buFont typeface="Arial" panose="020B0604020202090204" pitchFamily="34" charset="0"/>
              <a:buChar char="•"/>
            </a:pPr>
            <a:r>
              <a:rPr lang="en-US" sz="2000" dirty="0"/>
              <a:t>Real-time chat</a:t>
            </a:r>
            <a:endParaRPr lang="en-US" sz="2000" dirty="0"/>
          </a:p>
          <a:p>
            <a:pPr marL="101600" lvl="0" indent="0" algn="just" rtl="0">
              <a:spcBef>
                <a:spcPts val="400"/>
              </a:spcBef>
              <a:spcAft>
                <a:spcPts val="0"/>
              </a:spcAft>
              <a:buSzPts val="2000"/>
              <a:buNone/>
            </a:pPr>
            <a:endParaRPr sz="2000" dirty="0"/>
          </a:p>
        </p:txBody>
      </p:sp>
      <p:sp>
        <p:nvSpPr>
          <p:cNvPr id="79" name="Google Shape;79;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fld>
            <a:endParaRPr lang="en-IN"/>
          </a:p>
        </p:txBody>
      </p:sp>
      <p:sp>
        <p:nvSpPr>
          <p:cNvPr id="80" name="Google Shape;80;p9"/>
          <p:cNvSpPr/>
          <p:nvPr/>
        </p:nvSpPr>
        <p:spPr>
          <a:xfrm>
            <a:off x="179513" y="1747820"/>
            <a:ext cx="8964488" cy="2585323"/>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Times New Roman" panose="02020503050405090304"/>
              <a:buNone/>
            </a:pPr>
            <a:endParaRPr lang="en-IN" sz="2000" b="1" i="0" u="none" strike="noStrike" cap="none" dirty="0">
              <a:solidFill>
                <a:schemeClr val="dk1"/>
              </a:solidFill>
              <a:latin typeface="Times New Roman" panose="02020503050405090304" pitchFamily="18" charset="0"/>
              <a:ea typeface="Times New Roman" panose="02020503050405090304"/>
              <a:cs typeface="Times New Roman" panose="02020503050405090304" pitchFamily="18" charset="0"/>
              <a:sym typeface="Times New Roman" panose="02020503050405090304"/>
            </a:endParaRPr>
          </a:p>
          <a:p>
            <a:pPr>
              <a:buFont typeface="Arial" panose="020B0604020202090204" pitchFamily="34" charset="0"/>
              <a:buChar char="•"/>
            </a:pPr>
            <a:r>
              <a:rPr lang="en-US" sz="2000" dirty="0">
                <a:latin typeface="Times New Roman" panose="02020503050405090304" pitchFamily="18" charset="0"/>
                <a:cs typeface="Times New Roman" panose="02020503050405090304" pitchFamily="18" charset="0"/>
              </a:rPr>
              <a:t>Project Harmony is a modern web-based mental health platform designed to make support more accessible. </a:t>
            </a:r>
            <a:endParaRPr lang="en-US" sz="2000" dirty="0">
              <a:latin typeface="Times New Roman" panose="02020503050405090304" pitchFamily="18" charset="0"/>
              <a:cs typeface="Times New Roman" panose="02020503050405090304" pitchFamily="18" charset="0"/>
            </a:endParaRPr>
          </a:p>
          <a:p>
            <a:pPr>
              <a:buFont typeface="Arial" panose="020B0604020202090204" pitchFamily="34" charset="0"/>
              <a:buChar char="•"/>
            </a:pPr>
            <a:r>
              <a:rPr lang="en-US" sz="2000" dirty="0">
                <a:latin typeface="Times New Roman" panose="02020503050405090304" pitchFamily="18" charset="0"/>
                <a:cs typeface="Times New Roman" panose="02020503050405090304" pitchFamily="18" charset="0"/>
              </a:rPr>
              <a:t>It connects users (clients) with mental health professionals such as psychologists and psychiatrists. </a:t>
            </a:r>
            <a:endParaRPr lang="en-US" sz="2000" dirty="0">
              <a:latin typeface="Times New Roman" panose="02020503050405090304" pitchFamily="18" charset="0"/>
              <a:cs typeface="Times New Roman" panose="02020503050405090304" pitchFamily="18" charset="0"/>
            </a:endParaRPr>
          </a:p>
          <a:p>
            <a:r>
              <a:rPr lang="en-US" sz="2000" b="1" dirty="0">
                <a:latin typeface="Times New Roman" panose="02020503050405090304" pitchFamily="18" charset="0"/>
                <a:cs typeface="Times New Roman" panose="02020503050405090304" pitchFamily="18" charset="0"/>
              </a:rPr>
              <a:t>Core Functionalities:</a:t>
            </a:r>
            <a:endParaRPr lang="en-US" sz="2000" b="1" dirty="0">
              <a:latin typeface="Times New Roman" panose="02020503050405090304" pitchFamily="18" charset="0"/>
              <a:cs typeface="Times New Roman" panose="02020503050405090304" pitchFamily="18" charset="0"/>
            </a:endParaRPr>
          </a:p>
          <a:p>
            <a:pPr>
              <a:buFont typeface="Arial" panose="020B0604020202090204" pitchFamily="34" charset="0"/>
              <a:buChar char="•"/>
            </a:pPr>
            <a:r>
              <a:rPr lang="en-US" sz="2000" dirty="0">
                <a:latin typeface="Times New Roman" panose="02020503050405090304" pitchFamily="18" charset="0"/>
                <a:cs typeface="Times New Roman" panose="02020503050405090304" pitchFamily="18" charset="0"/>
              </a:rPr>
              <a:t>Real-time video calling and voice calling </a:t>
            </a:r>
            <a:endParaRPr lang="en-US" sz="2000" dirty="0">
              <a:latin typeface="Times New Roman" panose="02020503050405090304" pitchFamily="18" charset="0"/>
              <a:cs typeface="Times New Roman" panose="02020503050405090304" pitchFamily="18" charset="0"/>
            </a:endParaRPr>
          </a:p>
          <a:p>
            <a:pPr>
              <a:buFont typeface="Arial" panose="020B0604020202090204" pitchFamily="34" charset="0"/>
              <a:buChar char="•"/>
            </a:pPr>
            <a:r>
              <a:rPr lang="en-US" sz="2000" dirty="0">
                <a:latin typeface="Times New Roman" panose="02020503050405090304" pitchFamily="18" charset="0"/>
                <a:cs typeface="Times New Roman" panose="02020503050405090304" pitchFamily="18" charset="0"/>
              </a:rPr>
              <a:t>Instant chat system </a:t>
            </a:r>
            <a:endParaRPr lang="en-US" sz="2000" dirty="0">
              <a:latin typeface="Times New Roman" panose="02020503050405090304" pitchFamily="18" charset="0"/>
              <a:cs typeface="Times New Roman" panose="02020503050405090304" pitchFamily="18" charset="0"/>
            </a:endParaRPr>
          </a:p>
          <a:p>
            <a:pPr>
              <a:buFont typeface="Arial" panose="020B0604020202090204" pitchFamily="34" charset="0"/>
              <a:buChar char="•"/>
            </a:pPr>
            <a:r>
              <a:rPr lang="en-US" sz="2000" dirty="0">
                <a:latin typeface="Times New Roman" panose="02020503050405090304" pitchFamily="18" charset="0"/>
                <a:cs typeface="Times New Roman" panose="02020503050405090304" pitchFamily="18" charset="0"/>
              </a:rPr>
              <a:t>Community forum for peer interaction </a:t>
            </a:r>
            <a:endParaRPr lang="en-US" sz="2000" dirty="0">
              <a:latin typeface="Times New Roman" panose="02020503050405090304" pitchFamily="18" charset="0"/>
              <a:cs typeface="Times New Roman" panose="02020503050405090304" pitchFamily="18" charset="0"/>
            </a:endParaRPr>
          </a:p>
          <a:p>
            <a:r>
              <a:rPr lang="en-US" sz="2000" b="1" dirty="0">
                <a:latin typeface="Times New Roman" panose="02020503050405090304" pitchFamily="18" charset="0"/>
                <a:cs typeface="Times New Roman" panose="02020503050405090304" pitchFamily="18" charset="0"/>
              </a:rPr>
              <a:t>Objective:</a:t>
            </a:r>
            <a:endParaRPr lang="en-US" sz="2000" b="1" dirty="0">
              <a:latin typeface="Times New Roman" panose="02020503050405090304" pitchFamily="18" charset="0"/>
              <a:cs typeface="Times New Roman" panose="02020503050405090304" pitchFamily="18" charset="0"/>
            </a:endParaRPr>
          </a:p>
          <a:p>
            <a:pPr>
              <a:buFont typeface="Arial" panose="020B0604020202090204" pitchFamily="34" charset="0"/>
              <a:buChar char="•"/>
            </a:pPr>
            <a:r>
              <a:rPr lang="en-US" sz="2000" dirty="0">
                <a:latin typeface="Times New Roman" panose="02020503050405090304" pitchFamily="18" charset="0"/>
                <a:cs typeface="Times New Roman" panose="02020503050405090304" pitchFamily="18" charset="0"/>
              </a:rPr>
              <a:t>To create a safe, secure, and interactive ecosystem </a:t>
            </a:r>
            <a:endParaRPr lang="en-US" sz="2000" dirty="0">
              <a:latin typeface="Times New Roman" panose="02020503050405090304" pitchFamily="18" charset="0"/>
              <a:cs typeface="Times New Roman" panose="02020503050405090304" pitchFamily="18" charset="0"/>
            </a:endParaRPr>
          </a:p>
          <a:p>
            <a:pPr>
              <a:buFont typeface="Arial" panose="020B0604020202090204" pitchFamily="34" charset="0"/>
              <a:buChar char="•"/>
            </a:pPr>
            <a:r>
              <a:rPr lang="en-US" sz="2000" dirty="0">
                <a:latin typeface="Times New Roman" panose="02020503050405090304" pitchFamily="18" charset="0"/>
                <a:cs typeface="Times New Roman" panose="02020503050405090304" pitchFamily="18" charset="0"/>
              </a:rPr>
              <a:t>To provide both professional help and community support in one platform</a:t>
            </a:r>
            <a:endParaRPr lang="en-US" sz="2000" dirty="0">
              <a:latin typeface="Times New Roman" panose="02020503050405090304" pitchFamily="18" charset="0"/>
              <a:cs typeface="Times New Roman" panose="02020503050405090304" pitchFamily="18" charset="0"/>
            </a:endParaRPr>
          </a:p>
          <a:p>
            <a:pPr marL="0" marR="0" lvl="0" indent="0" algn="l" rtl="0">
              <a:lnSpc>
                <a:spcPct val="100000"/>
              </a:lnSpc>
              <a:spcBef>
                <a:spcPts val="0"/>
              </a:spcBef>
              <a:spcAft>
                <a:spcPts val="0"/>
              </a:spcAft>
              <a:buClr>
                <a:schemeClr val="dk1"/>
              </a:buClr>
              <a:buSzPts val="1800"/>
              <a:buFont typeface="Times New Roman" panose="02020503050405090304"/>
              <a:buNone/>
            </a:pPr>
            <a:endParaRPr sz="1600" dirty="0"/>
          </a:p>
          <a:p>
            <a:pPr marL="0" marR="0" lvl="0" indent="0" algn="l" rtl="0">
              <a:lnSpc>
                <a:spcPct val="100000"/>
              </a:lnSpc>
              <a:spcBef>
                <a:spcPts val="0"/>
              </a:spcBef>
              <a:spcAft>
                <a:spcPts val="0"/>
              </a:spcAft>
              <a:buClr>
                <a:schemeClr val="dk1"/>
              </a:buClr>
              <a:buSzPts val="1800"/>
              <a:buFont typeface="Calibri"/>
              <a:buNone/>
            </a:pPr>
            <a:endParaRPr sz="1800" dirty="0">
              <a:solidFill>
                <a:schemeClr val="dk1"/>
              </a:solidFill>
              <a:latin typeface="Arial" panose="020B0604020202090204"/>
              <a:ea typeface="Arial" panose="020B0604020202090204"/>
              <a:cs typeface="Arial" panose="020B0604020202090204"/>
              <a:sym typeface="Arial" panose="020B0604020202090204"/>
            </a:endParaRPr>
          </a:p>
        </p:txBody>
      </p:sp>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1"/>
          <p:cNvSpPr txBox="1"/>
          <p:nvPr/>
        </p:nvSpPr>
        <p:spPr>
          <a:xfrm>
            <a:off x="349557" y="152493"/>
            <a:ext cx="540060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a:solidFill>
                  <a:schemeClr val="dk1"/>
                </a:solidFill>
                <a:latin typeface="Times New Roman" panose="02020503050405090304"/>
                <a:ea typeface="Times New Roman" panose="02020503050405090304"/>
                <a:cs typeface="Times New Roman" panose="02020503050405090304"/>
                <a:sym typeface="Times New Roman" panose="02020503050405090304"/>
              </a:rPr>
              <a:t>PROBLEM STATEMENT</a:t>
            </a:r>
            <a:endParaRPr lang="en-IN" sz="3200" b="1">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93" name="Google Shape;93;p11"/>
          <p:cNvSpPr txBox="1"/>
          <p:nvPr/>
        </p:nvSpPr>
        <p:spPr>
          <a:xfrm>
            <a:off x="118171" y="444880"/>
            <a:ext cx="8219400" cy="6597445"/>
          </a:xfrm>
          <a:prstGeom prst="rect">
            <a:avLst/>
          </a:prstGeom>
          <a:noFill/>
          <a:ln>
            <a:noFill/>
          </a:ln>
        </p:spPr>
        <p:txBody>
          <a:bodyPr spcFirstLastPara="1" wrap="square" lIns="91425" tIns="45700" rIns="91425" bIns="45700" anchor="ctr" anchorCtr="0">
            <a:noAutofit/>
          </a:bodyPr>
          <a:lstStyle/>
          <a:p>
            <a:r>
              <a:rPr lang="en-US" sz="2000" dirty="0">
                <a:latin typeface="Times New Roman" panose="02020503050405090304" pitchFamily="18" charset="0"/>
                <a:cs typeface="Times New Roman" panose="02020503050405090304" pitchFamily="18" charset="0"/>
              </a:rPr>
              <a:t>Mental health support is often difficult to access due to several challenges. Individuals struggle to find qualified and trustworthy professionals quickly, and existing platforms usually provide only limited services, such as consultation or community support, but not both in one place. This fragmentation forces users to switch between multiple platforms, reducing convenience and effectiveness.</a:t>
            </a:r>
            <a:endParaRPr lang="en-US" sz="2000" dirty="0">
              <a:latin typeface="Times New Roman" panose="02020503050405090304" pitchFamily="18" charset="0"/>
              <a:cs typeface="Times New Roman" panose="02020503050405090304" pitchFamily="18" charset="0"/>
            </a:endParaRPr>
          </a:p>
          <a:p>
            <a:r>
              <a:rPr lang="en-US" sz="2000" dirty="0">
                <a:latin typeface="Times New Roman" panose="02020503050405090304" pitchFamily="18" charset="0"/>
                <a:cs typeface="Times New Roman" panose="02020503050405090304" pitchFamily="18" charset="0"/>
              </a:rPr>
              <a:t>Another key issue is the lack of real-time communication, as many systems do not support instant video or voice interaction, which is essential for proper consultation. Additionally, privacy and security concerns discourage users from sharing sensitive information online.</a:t>
            </a:r>
            <a:endParaRPr lang="en-US" sz="2000" dirty="0">
              <a:latin typeface="Times New Roman" panose="02020503050405090304" pitchFamily="18" charset="0"/>
              <a:cs typeface="Times New Roman" panose="02020503050405090304" pitchFamily="18" charset="0"/>
            </a:endParaRPr>
          </a:p>
          <a:p>
            <a:r>
              <a:rPr lang="en-US" sz="2000" dirty="0">
                <a:latin typeface="Times New Roman" panose="02020503050405090304" pitchFamily="18" charset="0"/>
                <a:cs typeface="Times New Roman" panose="02020503050405090304" pitchFamily="18" charset="0"/>
              </a:rPr>
              <a:t>Social stigma further prevents people from seeking help openly, and the absence of safe, anonymous spaces limits peer support opportunities.</a:t>
            </a:r>
            <a:endParaRPr lang="en-US" sz="2000" dirty="0">
              <a:latin typeface="Times New Roman" panose="02020503050405090304" pitchFamily="18" charset="0"/>
              <a:cs typeface="Times New Roman" panose="02020503050405090304" pitchFamily="18" charset="0"/>
            </a:endParaRPr>
          </a:p>
          <a:p>
            <a:endParaRPr lang="en-US" sz="2000" dirty="0">
              <a:latin typeface="Times New Roman" panose="02020503050405090304" pitchFamily="18" charset="0"/>
              <a:cs typeface="Times New Roman" panose="02020503050405090304" pitchFamily="18" charset="0"/>
            </a:endParaRPr>
          </a:p>
          <a:p>
            <a:r>
              <a:rPr lang="en-US" sz="2000" dirty="0">
                <a:latin typeface="Times New Roman" panose="02020503050405090304" pitchFamily="18" charset="0"/>
                <a:cs typeface="Times New Roman" panose="02020503050405090304" pitchFamily="18" charset="0"/>
              </a:rPr>
              <a:t>There is a need for a unified, secure, and scalable platform that provides:</a:t>
            </a:r>
            <a:endParaRPr lang="en-US" sz="2000" dirty="0">
              <a:latin typeface="Times New Roman" panose="02020503050405090304" pitchFamily="18" charset="0"/>
              <a:cs typeface="Times New Roman" panose="02020503050405090304" pitchFamily="18" charset="0"/>
            </a:endParaRPr>
          </a:p>
          <a:p>
            <a:pPr>
              <a:buFont typeface="Arial" panose="020B0604020202090204" pitchFamily="34" charset="0"/>
              <a:buChar char="•"/>
            </a:pPr>
            <a:r>
              <a:rPr lang="en-US" sz="2000" dirty="0">
                <a:latin typeface="Times New Roman" panose="02020503050405090304" pitchFamily="18" charset="0"/>
                <a:cs typeface="Times New Roman" panose="02020503050405090304" pitchFamily="18" charset="0"/>
              </a:rPr>
              <a:t>Easy access to qualified mental health professionals </a:t>
            </a:r>
            <a:endParaRPr lang="en-US" sz="2000" dirty="0">
              <a:latin typeface="Times New Roman" panose="02020503050405090304" pitchFamily="18" charset="0"/>
              <a:cs typeface="Times New Roman" panose="02020503050405090304" pitchFamily="18" charset="0"/>
            </a:endParaRPr>
          </a:p>
          <a:p>
            <a:pPr>
              <a:buFont typeface="Arial" panose="020B0604020202090204" pitchFamily="34" charset="0"/>
              <a:buChar char="•"/>
            </a:pPr>
            <a:r>
              <a:rPr lang="en-US" sz="2000" dirty="0">
                <a:latin typeface="Times New Roman" panose="02020503050405090304" pitchFamily="18" charset="0"/>
                <a:cs typeface="Times New Roman" panose="02020503050405090304" pitchFamily="18" charset="0"/>
              </a:rPr>
              <a:t>Real-time communication (video, voice, chat) </a:t>
            </a:r>
            <a:endParaRPr lang="en-US" sz="2000" dirty="0">
              <a:latin typeface="Times New Roman" panose="02020503050405090304" pitchFamily="18" charset="0"/>
              <a:cs typeface="Times New Roman" panose="02020503050405090304" pitchFamily="18" charset="0"/>
            </a:endParaRPr>
          </a:p>
          <a:p>
            <a:pPr>
              <a:buFont typeface="Arial" panose="020B0604020202090204" pitchFamily="34" charset="0"/>
              <a:buChar char="•"/>
            </a:pPr>
            <a:r>
              <a:rPr lang="en-US" sz="2000" dirty="0">
                <a:latin typeface="Times New Roman" panose="02020503050405090304" pitchFamily="18" charset="0"/>
                <a:cs typeface="Times New Roman" panose="02020503050405090304" pitchFamily="18" charset="0"/>
              </a:rPr>
              <a:t>A supportive community environment </a:t>
            </a:r>
            <a:endParaRPr lang="en-US" sz="2000" dirty="0">
              <a:latin typeface="Times New Roman" panose="02020503050405090304" pitchFamily="18" charset="0"/>
              <a:cs typeface="Times New Roman" panose="02020503050405090304" pitchFamily="18" charset="0"/>
            </a:endParaRPr>
          </a:p>
          <a:p>
            <a:pPr>
              <a:buFont typeface="Arial" panose="020B0604020202090204" pitchFamily="34" charset="0"/>
              <a:buChar char="•"/>
            </a:pPr>
            <a:r>
              <a:rPr lang="en-US" sz="2000" dirty="0">
                <a:latin typeface="Times New Roman" panose="02020503050405090304" pitchFamily="18" charset="0"/>
                <a:cs typeface="Times New Roman" panose="02020503050405090304" pitchFamily="18" charset="0"/>
              </a:rPr>
              <a:t>Strong data privacy and security</a:t>
            </a:r>
            <a:endParaRPr lang="en-US" sz="2000" dirty="0">
              <a:latin typeface="Times New Roman" panose="02020503050405090304" pitchFamily="18" charset="0"/>
              <a:cs typeface="Times New Roman" panose="02020503050405090304" pitchFamily="18" charset="0"/>
            </a:endParaRPr>
          </a:p>
          <a:p>
            <a:endParaRPr lang="en-US" sz="2000" dirty="0">
              <a:latin typeface="Times New Roman" panose="02020503050405090304" pitchFamily="18" charset="0"/>
              <a:cs typeface="Times New Roman" panose="02020503050405090304" pitchFamily="18" charset="0"/>
            </a:endParaRPr>
          </a:p>
        </p:txBody>
      </p:sp>
      <p:sp>
        <p:nvSpPr>
          <p:cNvPr id="94" name="Google Shape;94;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lvl="0" algn="just" rtl="0">
              <a:spcBef>
                <a:spcPts val="0"/>
              </a:spcBef>
              <a:spcAft>
                <a:spcPts val="0"/>
              </a:spcAft>
              <a:buClr>
                <a:schemeClr val="dk1"/>
              </a:buClr>
              <a:buSzPts val="2200"/>
            </a:pPr>
            <a:r>
              <a:rPr lang="en-IN" b="1" dirty="0"/>
              <a:t>Significance</a:t>
            </a:r>
            <a:endParaRPr lang="en-IN" dirty="0"/>
          </a:p>
        </p:txBody>
      </p:sp>
      <p:sp>
        <p:nvSpPr>
          <p:cNvPr id="86" name="Google Shape;86;p10"/>
          <p:cNvSpPr txBox="1">
            <a:spLocks noGrp="1"/>
          </p:cNvSpPr>
          <p:nvPr>
            <p:ph type="body" idx="1"/>
          </p:nvPr>
        </p:nvSpPr>
        <p:spPr>
          <a:xfrm>
            <a:off x="0" y="1064342"/>
            <a:ext cx="8229600" cy="4525963"/>
          </a:xfrm>
          <a:prstGeom prst="rect">
            <a:avLst/>
          </a:prstGeom>
          <a:noFill/>
          <a:ln>
            <a:noFill/>
          </a:ln>
        </p:spPr>
        <p:txBody>
          <a:bodyPr spcFirstLastPara="1" wrap="square" lIns="91425" tIns="45700" rIns="91425" bIns="45700" anchor="t" anchorCtr="0">
            <a:noAutofit/>
          </a:bodyPr>
          <a:lstStyle/>
          <a:p>
            <a:r>
              <a:rPr lang="en-US" sz="2000" dirty="0"/>
              <a:t>Project Harmony is significant as it addresses the growing need for accessible and reliable mental health support. It helps overcome barriers like limited availability of professionals, high costs, and social stigma by providing a digital platform for easy access to expert help.</a:t>
            </a:r>
            <a:endParaRPr lang="en-US" sz="2000" dirty="0"/>
          </a:p>
          <a:p>
            <a:r>
              <a:rPr lang="en-US" sz="2000" dirty="0"/>
              <a:t>The platform integrates professional consultation, real-time communication (video, voice, chat), and a community forum into a single system, improving convenience and user engagement. It also ensures privacy and security, encouraging users to seek help without hesitation.</a:t>
            </a:r>
            <a:endParaRPr lang="en-US" sz="2000" dirty="0"/>
          </a:p>
          <a:p>
            <a:r>
              <a:rPr lang="en-US" sz="2000" dirty="0"/>
              <a:t>Additionally, the community feature promotes peer support, reducing feelings of isolation. With the use of modern technologies, the platform is scalable and efficient, allowing future enhancements</a:t>
            </a:r>
            <a:r>
              <a:rPr lang="en-US" dirty="0"/>
              <a:t>.</a:t>
            </a:r>
            <a:endParaRPr lang="en-US" dirty="0"/>
          </a:p>
          <a:p>
            <a:r>
              <a:rPr lang="en-US" sz="2000" dirty="0"/>
              <a:t>Overall, Project Harmony contributes to making mental health support more accessible, efficient, stigma-free, and user-friendly, ultimately improving the well-being and quality of life of individuals</a:t>
            </a:r>
            <a:r>
              <a:rPr lang="en-US" dirty="0"/>
              <a:t>.</a:t>
            </a:r>
            <a:endParaRPr lang="en-US" dirty="0"/>
          </a:p>
          <a:p>
            <a:pPr marL="0" lvl="0" indent="0" algn="just" rtl="0">
              <a:spcBef>
                <a:spcPts val="440"/>
              </a:spcBef>
              <a:spcAft>
                <a:spcPts val="0"/>
              </a:spcAft>
              <a:buClr>
                <a:schemeClr val="dk1"/>
              </a:buClr>
              <a:buSzPts val="2200"/>
              <a:buNone/>
            </a:pPr>
            <a:endParaRPr b="1" dirty="0"/>
          </a:p>
        </p:txBody>
      </p:sp>
      <p:sp>
        <p:nvSpPr>
          <p:cNvPr id="87" name="Google Shape;8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2"/>
          <p:cNvSpPr txBox="1">
            <a:spLocks noGrp="1"/>
          </p:cNvSpPr>
          <p:nvPr>
            <p:ph type="body" idx="1"/>
          </p:nvPr>
        </p:nvSpPr>
        <p:spPr>
          <a:xfrm>
            <a:off x="428596" y="1000108"/>
            <a:ext cx="8229600" cy="5577673"/>
          </a:xfrm>
          <a:prstGeom prst="rect">
            <a:avLst/>
          </a:prstGeom>
          <a:noFill/>
          <a:ln>
            <a:noFill/>
          </a:ln>
        </p:spPr>
        <p:txBody>
          <a:bodyPr spcFirstLastPara="1" wrap="square" lIns="91425" tIns="45700" rIns="91425" bIns="45700" anchor="t" anchorCtr="0">
            <a:noAutofit/>
          </a:bodyPr>
          <a:lstStyle/>
          <a:p>
            <a:pPr marL="742950" lvl="1" indent="-285750" algn="just" rtl="0">
              <a:spcBef>
                <a:spcPts val="0"/>
              </a:spcBef>
              <a:spcAft>
                <a:spcPts val="0"/>
              </a:spcAft>
              <a:buClr>
                <a:srgbClr val="0D0D0D"/>
              </a:buClr>
              <a:buSzPts val="2200"/>
              <a:buNone/>
            </a:pPr>
            <a:r>
              <a:rPr lang="en-IN" b="1" i="0" dirty="0">
                <a:solidFill>
                  <a:srgbClr val="0D0D0D"/>
                </a:solidFill>
                <a:highlight>
                  <a:srgbClr val="FFFFFF"/>
                </a:highlight>
              </a:rPr>
              <a:t>Frontend Development:</a:t>
            </a:r>
            <a:endParaRPr sz="1800" b="1" i="0" dirty="0">
              <a:solidFill>
                <a:srgbClr val="0D0D0D"/>
              </a:solidFill>
              <a:highlight>
                <a:srgbClr val="FFFFFF"/>
              </a:highlight>
            </a:endParaRPr>
          </a:p>
          <a:p>
            <a:pPr marL="342900" lvl="0" indent="-342900" algn="just" rtl="0">
              <a:spcBef>
                <a:spcPts val="360"/>
              </a:spcBef>
              <a:spcAft>
                <a:spcPts val="0"/>
              </a:spcAft>
              <a:buClr>
                <a:srgbClr val="0D0D0D"/>
              </a:buClr>
              <a:buSzPts val="1800"/>
              <a:buFont typeface="Arial" panose="020B0604020202090204"/>
              <a:buChar char="•"/>
            </a:pPr>
            <a:r>
              <a:rPr lang="en-IN" sz="1800" b="1" i="0" dirty="0">
                <a:solidFill>
                  <a:srgbClr val="0D0D0D"/>
                </a:solidFill>
                <a:highlight>
                  <a:srgbClr val="FFFFFF"/>
                </a:highlight>
              </a:rPr>
              <a:t>HTML, CSS, JavaScript:</a:t>
            </a:r>
            <a:r>
              <a:rPr lang="en-IN" sz="1800" b="0" i="0" dirty="0">
                <a:solidFill>
                  <a:srgbClr val="0D0D0D"/>
                </a:solidFill>
                <a:highlight>
                  <a:srgbClr val="FFFFFF"/>
                </a:highlight>
              </a:rPr>
              <a:t> The frontend user interface will be developed using HTML for structure, CSS for styling, and JavaScript for interactivity and dynamic content generation.</a:t>
            </a:r>
            <a:endParaRPr dirty="0"/>
          </a:p>
          <a:p>
            <a:pPr marL="88900" indent="0">
              <a:buNone/>
            </a:pPr>
            <a:r>
              <a:rPr lang="en-IN" sz="2000" b="1" dirty="0"/>
              <a:t>Next.js</a:t>
            </a:r>
            <a:endParaRPr lang="en-IN" sz="2000" b="1" dirty="0"/>
          </a:p>
          <a:p>
            <a:r>
              <a:rPr lang="en-IN" sz="2000" dirty="0"/>
              <a:t>Next.js serves as the core frontend framework, enabling reusable UI components, efficient state management, and seamless API integration. It also provides built-in features like server-side rendering (SSR) and static site generation (SSG) for better performance.</a:t>
            </a:r>
            <a:endParaRPr sz="1800" b="0" i="0" dirty="0">
              <a:solidFill>
                <a:srgbClr val="0D0D0D"/>
              </a:solidFill>
              <a:highlight>
                <a:srgbClr val="FFFFFF"/>
              </a:highlight>
            </a:endParaRPr>
          </a:p>
          <a:p>
            <a:pPr marL="88900" indent="0">
              <a:buNone/>
            </a:pPr>
            <a:r>
              <a:rPr lang="en-US" sz="2000" b="1" dirty="0"/>
              <a:t>Routing in Next.js</a:t>
            </a:r>
            <a:endParaRPr lang="en-US" sz="2000" b="1" dirty="0"/>
          </a:p>
          <a:p>
            <a:r>
              <a:rPr lang="en-US" sz="2000" dirty="0"/>
              <a:t>Next.js uses a file-based routing system, removing the need for React Router. Routes are created automatically based on the folder structure, making navigation simple and efficient.</a:t>
            </a:r>
            <a:endParaRPr lang="en-US" sz="2000" dirty="0"/>
          </a:p>
          <a:p>
            <a:pPr marL="88900" indent="0">
              <a:buNone/>
            </a:pPr>
            <a:r>
              <a:rPr lang="en-US" sz="2000" b="1" dirty="0"/>
              <a:t>Why Next.js?</a:t>
            </a:r>
            <a:endParaRPr lang="en-US" sz="2000" b="1" dirty="0"/>
          </a:p>
          <a:p>
            <a:r>
              <a:rPr lang="en-US" sz="2000" dirty="0"/>
              <a:t>Next.js is chosen for its performance, scalability, and ease of use. Its hybrid rendering and component-based architecture help build fast, dynamic, and user-friendly applications.</a:t>
            </a:r>
            <a:endParaRPr lang="en-US" sz="2000" dirty="0"/>
          </a:p>
          <a:p>
            <a:endParaRPr lang="en-US" sz="2000" dirty="0"/>
          </a:p>
          <a:p>
            <a:pPr marL="342900" lvl="0" indent="-342900" algn="just" rtl="0">
              <a:spcBef>
                <a:spcPts val="360"/>
              </a:spcBef>
              <a:spcAft>
                <a:spcPts val="0"/>
              </a:spcAft>
              <a:buClr>
                <a:schemeClr val="dk1"/>
              </a:buClr>
              <a:buSzPts val="1800"/>
              <a:buNone/>
            </a:pPr>
            <a:endParaRPr sz="1800" b="0" i="0" dirty="0">
              <a:solidFill>
                <a:srgbClr val="0D0D0D"/>
              </a:solidFill>
              <a:highlight>
                <a:srgbClr val="FFFFFF"/>
              </a:highlight>
              <a:latin typeface="Arial" panose="020B0604020202090204"/>
              <a:ea typeface="Arial" panose="020B0604020202090204"/>
              <a:cs typeface="Arial" panose="020B0604020202090204"/>
              <a:sym typeface="Arial" panose="020B0604020202090204"/>
            </a:endParaRPr>
          </a:p>
          <a:p>
            <a:pPr marL="0" lvl="0" indent="0" algn="just" rtl="0">
              <a:spcBef>
                <a:spcPts val="440"/>
              </a:spcBef>
              <a:spcAft>
                <a:spcPts val="0"/>
              </a:spcAft>
              <a:buClr>
                <a:schemeClr val="dk1"/>
              </a:buClr>
              <a:buSzPts val="2200"/>
              <a:buNone/>
            </a:pPr>
            <a:endParaRPr dirty="0"/>
          </a:p>
        </p:txBody>
      </p:sp>
      <p:pic>
        <p:nvPicPr>
          <p:cNvPr id="100" name="Google Shape;100;p12" descr="1_WA_9JsyqFkge2HwYKcdJQw.png"/>
          <p:cNvPicPr preferRelativeResize="0"/>
          <p:nvPr/>
        </p:nvPicPr>
        <p:blipFill rotWithShape="1">
          <a:blip r:embed="rId1"/>
          <a:srcRect/>
          <a:stretch>
            <a:fillRect/>
          </a:stretch>
        </p:blipFill>
        <p:spPr>
          <a:xfrm>
            <a:off x="-214346" y="714356"/>
            <a:ext cx="1405846" cy="993464"/>
          </a:xfrm>
          <a:prstGeom prst="rect">
            <a:avLst/>
          </a:prstGeom>
          <a:noFill/>
          <a:ln>
            <a:noFill/>
          </a:ln>
        </p:spPr>
      </p:pic>
      <p:sp>
        <p:nvSpPr>
          <p:cNvPr id="101" name="Google Shape;101;p1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IN" b="1" dirty="0"/>
              <a:t>Software requirements</a:t>
            </a:r>
            <a:endParaRPr dirty="0"/>
          </a:p>
        </p:txBody>
      </p:sp>
      <p:sp>
        <p:nvSpPr>
          <p:cNvPr id="102" name="Google Shape;102;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fld>
            <a:endParaRPr lang="en-IN"/>
          </a:p>
        </p:txBody>
      </p:sp>
      <p:sp>
        <p:nvSpPr>
          <p:cNvPr id="103" name="Google Shape;103;p12" descr="React (JavaScript library) - Wikipedia"/>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3"/>
          <p:cNvSpPr txBox="1">
            <a:spLocks noGrp="1"/>
          </p:cNvSpPr>
          <p:nvPr>
            <p:ph type="body" idx="1"/>
          </p:nvPr>
        </p:nvSpPr>
        <p:spPr>
          <a:xfrm>
            <a:off x="307975" y="817545"/>
            <a:ext cx="8229600" cy="590393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rgbClr val="0D0D0D"/>
              </a:buClr>
              <a:buSzPts val="1800"/>
              <a:buChar char="•"/>
            </a:pPr>
            <a:r>
              <a:rPr lang="en-IN" sz="1800" b="1" i="0" dirty="0">
                <a:solidFill>
                  <a:srgbClr val="0D0D0D"/>
                </a:solidFill>
                <a:highlight>
                  <a:srgbClr val="FFFFFF"/>
                </a:highlight>
              </a:rPr>
              <a:t>Backend Development</a:t>
            </a:r>
            <a:endParaRPr dirty="0"/>
          </a:p>
          <a:p>
            <a:pPr marL="400050" lvl="1" indent="0" algn="just" rtl="0">
              <a:spcBef>
                <a:spcPts val="360"/>
              </a:spcBef>
              <a:spcAft>
                <a:spcPts val="0"/>
              </a:spcAft>
              <a:buClr>
                <a:srgbClr val="0D0D0D"/>
              </a:buClr>
              <a:buSzPts val="1800"/>
              <a:buNone/>
            </a:pPr>
            <a:r>
              <a:rPr lang="en-IN" sz="1800" b="1" i="0" dirty="0">
                <a:solidFill>
                  <a:srgbClr val="0D0D0D"/>
                </a:solidFill>
                <a:highlight>
                  <a:srgbClr val="FFFFFF"/>
                </a:highlight>
              </a:rPr>
              <a:t>Next.js and Express.js: </a:t>
            </a:r>
            <a:r>
              <a:rPr lang="en-IN" sz="1800" b="0" i="0" dirty="0">
                <a:solidFill>
                  <a:srgbClr val="0D0D0D"/>
                </a:solidFill>
                <a:highlight>
                  <a:srgbClr val="FFFFFF"/>
                </a:highlight>
              </a:rPr>
              <a:t>The backend will be developed using Node.js with Express.js as the framework. Node.js is chosen for its non-blocking, event-driven architecture, which is well-suited for handling multiple requests efficiently. Express.js simplifies the process of building web applications and APIs. The Node.js API documentation and Express.js documentation will be used as key references.</a:t>
            </a:r>
            <a:endParaRPr dirty="0"/>
          </a:p>
          <a:p>
            <a:pPr marL="342900" lvl="0" indent="-228600" algn="just" rtl="0">
              <a:spcBef>
                <a:spcPts val="360"/>
              </a:spcBef>
              <a:spcAft>
                <a:spcPts val="0"/>
              </a:spcAft>
              <a:buClr>
                <a:schemeClr val="dk1"/>
              </a:buClr>
              <a:buSzPts val="1800"/>
              <a:buNone/>
            </a:pPr>
            <a:endParaRPr sz="1800" b="0" i="0" dirty="0">
              <a:solidFill>
                <a:srgbClr val="0D0D0D"/>
              </a:solidFill>
              <a:highlight>
                <a:srgbClr val="FFFFFF"/>
              </a:highlight>
            </a:endParaRPr>
          </a:p>
          <a:p>
            <a:pPr marL="342900" lvl="0" indent="-342900" algn="just" rtl="0">
              <a:spcBef>
                <a:spcPts val="360"/>
              </a:spcBef>
              <a:spcAft>
                <a:spcPts val="0"/>
              </a:spcAft>
              <a:buClr>
                <a:srgbClr val="0D0D0D"/>
              </a:buClr>
              <a:buSzPts val="1800"/>
              <a:buChar char="•"/>
            </a:pPr>
            <a:r>
              <a:rPr lang="en-IN" sz="1800" b="1" i="0" dirty="0">
                <a:solidFill>
                  <a:srgbClr val="0D0D0D"/>
                </a:solidFill>
                <a:highlight>
                  <a:srgbClr val="FFFFFF"/>
                </a:highlight>
              </a:rPr>
              <a:t>Database Management</a:t>
            </a:r>
            <a:endParaRPr dirty="0"/>
          </a:p>
          <a:p>
            <a:pPr marL="400050" lvl="1" indent="0" algn="just" rtl="0">
              <a:spcBef>
                <a:spcPts val="360"/>
              </a:spcBef>
              <a:spcAft>
                <a:spcPts val="0"/>
              </a:spcAft>
              <a:buClr>
                <a:srgbClr val="0D0D0D"/>
              </a:buClr>
              <a:buSzPts val="1800"/>
              <a:buNone/>
            </a:pPr>
            <a:r>
              <a:rPr lang="en-IN" sz="1800" b="1" i="0" dirty="0">
                <a:solidFill>
                  <a:srgbClr val="0D0D0D"/>
                </a:solidFill>
                <a:highlight>
                  <a:srgbClr val="FFFFFF"/>
                </a:highlight>
              </a:rPr>
              <a:t>MongoDB with Mongoose: </a:t>
            </a:r>
            <a:r>
              <a:rPr lang="en-IN" sz="1800" b="0" i="0" dirty="0">
                <a:solidFill>
                  <a:srgbClr val="0D0D0D"/>
                </a:solidFill>
                <a:highlight>
                  <a:srgbClr val="FFFFFF"/>
                </a:highlight>
              </a:rPr>
              <a:t>MongoDB will serve as the NoSQL database for storing unstructured data. Mongoose will be used to provide a schema-based solution for MongoDB, making it easier to enforce data validation and relationships. The MongoDB documentation and Mongoose guide will be essential resources.</a:t>
            </a:r>
            <a:endParaRPr dirty="0"/>
          </a:p>
          <a:p>
            <a:pPr marL="342900" lvl="0" indent="-228600" algn="just" rtl="0">
              <a:spcBef>
                <a:spcPts val="360"/>
              </a:spcBef>
              <a:spcAft>
                <a:spcPts val="0"/>
              </a:spcAft>
              <a:buClr>
                <a:schemeClr val="dk1"/>
              </a:buClr>
              <a:buSzPts val="1800"/>
              <a:buNone/>
            </a:pPr>
            <a:endParaRPr sz="1800" b="0" i="0" dirty="0">
              <a:solidFill>
                <a:srgbClr val="0D0D0D"/>
              </a:solidFill>
              <a:highlight>
                <a:srgbClr val="FFFFFF"/>
              </a:highlight>
            </a:endParaRPr>
          </a:p>
          <a:p>
            <a:pPr marL="342900" lvl="0" indent="-342900" algn="just" rtl="0">
              <a:spcBef>
                <a:spcPts val="360"/>
              </a:spcBef>
              <a:spcAft>
                <a:spcPts val="0"/>
              </a:spcAft>
              <a:buClr>
                <a:srgbClr val="0D0D0D"/>
              </a:buClr>
              <a:buSzPts val="1800"/>
              <a:buChar char="•"/>
            </a:pPr>
            <a:r>
              <a:rPr lang="en-IN" sz="1800" b="1" i="0" dirty="0">
                <a:solidFill>
                  <a:srgbClr val="0D0D0D"/>
                </a:solidFill>
                <a:highlight>
                  <a:srgbClr val="FFFFFF"/>
                </a:highlight>
              </a:rPr>
              <a:t>API Testing</a:t>
            </a:r>
            <a:endParaRPr dirty="0"/>
          </a:p>
          <a:p>
            <a:pPr marL="400050" lvl="1" indent="0" algn="just" rtl="0">
              <a:spcBef>
                <a:spcPts val="360"/>
              </a:spcBef>
              <a:spcAft>
                <a:spcPts val="0"/>
              </a:spcAft>
              <a:buClr>
                <a:srgbClr val="0D0D0D"/>
              </a:buClr>
              <a:buSzPts val="1800"/>
              <a:buNone/>
            </a:pPr>
            <a:r>
              <a:rPr lang="en-IN" sz="1800" b="1" i="0" dirty="0">
                <a:solidFill>
                  <a:srgbClr val="0D0D0D"/>
                </a:solidFill>
                <a:highlight>
                  <a:srgbClr val="FFFFFF"/>
                </a:highlight>
              </a:rPr>
              <a:t>Postman: </a:t>
            </a:r>
            <a:r>
              <a:rPr lang="en-IN" sz="1800" b="0" i="0" dirty="0">
                <a:solidFill>
                  <a:srgbClr val="0D0D0D"/>
                </a:solidFill>
                <a:highlight>
                  <a:srgbClr val="FFFFFF"/>
                </a:highlight>
              </a:rPr>
              <a:t>Postman will be employed to test the APIs developed for the project. It allows for easy testing and debugging of endpoints, ensuring they function as expected before deployment. The Postman documentation will guide the setup and usage of Postman.</a:t>
            </a:r>
            <a:endParaRPr sz="1800" b="0" i="0" dirty="0">
              <a:solidFill>
                <a:srgbClr val="0D0D0D"/>
              </a:solidFill>
              <a:highlight>
                <a:srgbClr val="FFFFFF"/>
              </a:highlight>
            </a:endParaRPr>
          </a:p>
          <a:p>
            <a:pPr marL="342900" lvl="0" indent="-228600" algn="just" rtl="0">
              <a:spcBef>
                <a:spcPts val="360"/>
              </a:spcBef>
              <a:spcAft>
                <a:spcPts val="0"/>
              </a:spcAft>
              <a:buClr>
                <a:schemeClr val="dk1"/>
              </a:buClr>
              <a:buSzPts val="1800"/>
              <a:buNone/>
            </a:pPr>
            <a:endParaRPr sz="1800" b="0" i="0" dirty="0">
              <a:solidFill>
                <a:srgbClr val="0D0D0D"/>
              </a:solidFill>
              <a:highlight>
                <a:srgbClr val="FFFFFF"/>
              </a:highlight>
              <a:latin typeface="Arial" panose="020B0604020202090204"/>
              <a:ea typeface="Arial" panose="020B0604020202090204"/>
              <a:cs typeface="Arial" panose="020B0604020202090204"/>
              <a:sym typeface="Arial" panose="020B0604020202090204"/>
            </a:endParaRPr>
          </a:p>
          <a:p>
            <a:pPr marL="342900" lvl="0" indent="-203200" algn="just" rtl="0">
              <a:spcBef>
                <a:spcPts val="440"/>
              </a:spcBef>
              <a:spcAft>
                <a:spcPts val="0"/>
              </a:spcAft>
              <a:buClr>
                <a:schemeClr val="dk1"/>
              </a:buClr>
              <a:buSzPts val="2200"/>
              <a:buNone/>
            </a:pPr>
            <a:endParaRPr dirty="0"/>
          </a:p>
        </p:txBody>
      </p:sp>
      <p:sp>
        <p:nvSpPr>
          <p:cNvPr id="109" name="Google Shape;109;p1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IN" b="1"/>
              <a:t>Software requirements</a:t>
            </a:r>
            <a:endParaRPr lang="en-IN" b="1"/>
          </a:p>
        </p:txBody>
      </p:sp>
      <p:sp>
        <p:nvSpPr>
          <p:cNvPr id="110" name="Google Shape;110;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fld>
            <a:endParaRPr lang="en-IN"/>
          </a:p>
        </p:txBody>
      </p:sp>
      <p:sp>
        <p:nvSpPr>
          <p:cNvPr id="111" name="Google Shape;111;p13" descr="React (JavaScript library) - Wikipedia"/>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4"/>
          <p:cNvSpPr txBox="1"/>
          <p:nvPr/>
        </p:nvSpPr>
        <p:spPr>
          <a:xfrm>
            <a:off x="467544" y="260648"/>
            <a:ext cx="540060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a:solidFill>
                  <a:schemeClr val="dk1"/>
                </a:solidFill>
                <a:latin typeface="Times New Roman" panose="02020503050405090304"/>
                <a:ea typeface="Times New Roman" panose="02020503050405090304"/>
                <a:cs typeface="Times New Roman" panose="02020503050405090304"/>
                <a:sym typeface="Times New Roman" panose="02020503050405090304"/>
              </a:rPr>
              <a:t>KEY FEATURES</a:t>
            </a:r>
            <a:endParaRPr lang="en-IN" sz="3200" b="1">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17" name="Google Shape;117;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fld>
            <a:endParaRPr lang="en-IN"/>
          </a:p>
        </p:txBody>
      </p:sp>
      <p:sp>
        <p:nvSpPr>
          <p:cNvPr id="118" name="Google Shape;118;p14"/>
          <p:cNvSpPr/>
          <p:nvPr/>
        </p:nvSpPr>
        <p:spPr>
          <a:xfrm>
            <a:off x="148073" y="260648"/>
            <a:ext cx="8136900" cy="5600700"/>
          </a:xfrm>
          <a:prstGeom prst="rect">
            <a:avLst/>
          </a:prstGeom>
          <a:noFill/>
          <a:ln>
            <a:noFill/>
          </a:ln>
        </p:spPr>
        <p:txBody>
          <a:bodyPr spcFirstLastPara="1" wrap="square" lIns="91425" tIns="45700" rIns="91425" bIns="45700" anchor="t" anchorCtr="0">
            <a:noAutofit/>
          </a:bodyPr>
          <a:lstStyle/>
          <a:p>
            <a:endParaRPr lang="en-US" sz="4000" b="1" dirty="0"/>
          </a:p>
          <a:p>
            <a:r>
              <a:rPr lang="en-US" sz="2000" b="1" dirty="0">
                <a:latin typeface="Times New Roman" panose="02020503050405090304" pitchFamily="18" charset="0"/>
                <a:cs typeface="Times New Roman" panose="02020503050405090304" pitchFamily="18" charset="0"/>
              </a:rPr>
              <a:t>User-Friendly Interface:</a:t>
            </a:r>
            <a:br>
              <a:rPr lang="en-US" sz="2000" dirty="0">
                <a:latin typeface="Times New Roman" panose="02020503050405090304" pitchFamily="18" charset="0"/>
                <a:cs typeface="Times New Roman" panose="02020503050405090304" pitchFamily="18" charset="0"/>
              </a:rPr>
            </a:br>
            <a:r>
              <a:rPr lang="en-US" sz="2000" dirty="0">
                <a:latin typeface="Times New Roman" panose="02020503050405090304" pitchFamily="18" charset="0"/>
                <a:cs typeface="Times New Roman" panose="02020503050405090304" pitchFamily="18" charset="0"/>
              </a:rPr>
              <a:t>Designed for easy navigation, allowing users to quickly access services like consultation, chat, and forums, improving overall user experience.</a:t>
            </a:r>
            <a:endParaRPr lang="en-US" sz="2000" dirty="0">
              <a:latin typeface="Times New Roman" panose="02020503050405090304" pitchFamily="18" charset="0"/>
              <a:cs typeface="Times New Roman" panose="02020503050405090304" pitchFamily="18" charset="0"/>
            </a:endParaRPr>
          </a:p>
          <a:p>
            <a:r>
              <a:rPr lang="en-US" sz="2000" b="1" dirty="0">
                <a:latin typeface="Times New Roman" panose="02020503050405090304" pitchFamily="18" charset="0"/>
                <a:cs typeface="Times New Roman" panose="02020503050405090304" pitchFamily="18" charset="0"/>
              </a:rPr>
              <a:t>Session Management:</a:t>
            </a:r>
            <a:br>
              <a:rPr lang="en-US" sz="2000" dirty="0">
                <a:latin typeface="Times New Roman" panose="02020503050405090304" pitchFamily="18" charset="0"/>
                <a:cs typeface="Times New Roman" panose="02020503050405090304" pitchFamily="18" charset="0"/>
              </a:rPr>
            </a:br>
            <a:r>
              <a:rPr lang="en-US" sz="2000" dirty="0">
                <a:latin typeface="Times New Roman" panose="02020503050405090304" pitchFamily="18" charset="0"/>
                <a:cs typeface="Times New Roman" panose="02020503050405090304" pitchFamily="18" charset="0"/>
              </a:rPr>
              <a:t>Efficient handling of user sessions and appointments ensures smooth interaction between users and mental health professionals with minimal errors.</a:t>
            </a:r>
            <a:endParaRPr lang="en-US" sz="2000" dirty="0">
              <a:latin typeface="Times New Roman" panose="02020503050405090304" pitchFamily="18" charset="0"/>
              <a:cs typeface="Times New Roman" panose="02020503050405090304" pitchFamily="18" charset="0"/>
            </a:endParaRPr>
          </a:p>
          <a:p>
            <a:r>
              <a:rPr lang="en-US" sz="2000" b="1" dirty="0">
                <a:latin typeface="Times New Roman" panose="02020503050405090304" pitchFamily="18" charset="0"/>
                <a:cs typeface="Times New Roman" panose="02020503050405090304" pitchFamily="18" charset="0"/>
              </a:rPr>
              <a:t>Real-Time Communication:</a:t>
            </a:r>
            <a:br>
              <a:rPr lang="en-US" sz="2000" dirty="0">
                <a:latin typeface="Times New Roman" panose="02020503050405090304" pitchFamily="18" charset="0"/>
                <a:cs typeface="Times New Roman" panose="02020503050405090304" pitchFamily="18" charset="0"/>
              </a:rPr>
            </a:br>
            <a:r>
              <a:rPr lang="en-US" sz="2000" dirty="0">
                <a:latin typeface="Times New Roman" panose="02020503050405090304" pitchFamily="18" charset="0"/>
                <a:cs typeface="Times New Roman" panose="02020503050405090304" pitchFamily="18" charset="0"/>
              </a:rPr>
              <a:t>Provides instant updates and interaction through </a:t>
            </a:r>
            <a:r>
              <a:rPr lang="en-US" sz="2000" b="1" dirty="0">
                <a:latin typeface="Times New Roman" panose="02020503050405090304" pitchFamily="18" charset="0"/>
                <a:cs typeface="Times New Roman" panose="02020503050405090304" pitchFamily="18" charset="0"/>
              </a:rPr>
              <a:t>chat, voice calls, and video calls</a:t>
            </a:r>
            <a:r>
              <a:rPr lang="en-US" sz="2000" dirty="0">
                <a:latin typeface="Times New Roman" panose="02020503050405090304" pitchFamily="18" charset="0"/>
                <a:cs typeface="Times New Roman" panose="02020503050405090304" pitchFamily="18" charset="0"/>
              </a:rPr>
              <a:t>, ensuring timely support and transparency.</a:t>
            </a:r>
            <a:endParaRPr lang="en-US" sz="2000" dirty="0">
              <a:latin typeface="Times New Roman" panose="02020503050405090304" pitchFamily="18" charset="0"/>
              <a:cs typeface="Times New Roman" panose="02020503050405090304" pitchFamily="18" charset="0"/>
            </a:endParaRPr>
          </a:p>
          <a:p>
            <a:r>
              <a:rPr lang="en-US" sz="2000" b="1" dirty="0">
                <a:latin typeface="Times New Roman" panose="02020503050405090304" pitchFamily="18" charset="0"/>
                <a:cs typeface="Times New Roman" panose="02020503050405090304" pitchFamily="18" charset="0"/>
              </a:rPr>
              <a:t>Secure Authentication &amp; Data Protection:</a:t>
            </a:r>
            <a:br>
              <a:rPr lang="en-US" sz="2000" dirty="0">
                <a:latin typeface="Times New Roman" panose="02020503050405090304" pitchFamily="18" charset="0"/>
                <a:cs typeface="Times New Roman" panose="02020503050405090304" pitchFamily="18" charset="0"/>
              </a:rPr>
            </a:br>
            <a:r>
              <a:rPr lang="en-US" sz="2000" dirty="0">
                <a:latin typeface="Times New Roman" panose="02020503050405090304" pitchFamily="18" charset="0"/>
                <a:cs typeface="Times New Roman" panose="02020503050405090304" pitchFamily="18" charset="0"/>
              </a:rPr>
              <a:t>Implements secure login and data handling using Firebase Authentication, ensuring user privacy and trust.</a:t>
            </a:r>
            <a:endParaRPr lang="en-US" sz="2000" dirty="0">
              <a:latin typeface="Times New Roman" panose="02020503050405090304" pitchFamily="18" charset="0"/>
              <a:cs typeface="Times New Roman" panose="02020503050405090304" pitchFamily="18" charset="0"/>
            </a:endParaRPr>
          </a:p>
          <a:p>
            <a:r>
              <a:rPr lang="en-US" sz="2000" b="1" dirty="0">
                <a:latin typeface="Times New Roman" panose="02020503050405090304" pitchFamily="18" charset="0"/>
                <a:cs typeface="Times New Roman" panose="02020503050405090304" pitchFamily="18" charset="0"/>
              </a:rPr>
              <a:t>Professional Dashboard:</a:t>
            </a:r>
            <a:br>
              <a:rPr lang="en-US" sz="2000" dirty="0">
                <a:latin typeface="Times New Roman" panose="02020503050405090304" pitchFamily="18" charset="0"/>
                <a:cs typeface="Times New Roman" panose="02020503050405090304" pitchFamily="18" charset="0"/>
              </a:rPr>
            </a:br>
            <a:r>
              <a:rPr lang="en-US" sz="2000" dirty="0">
                <a:latin typeface="Times New Roman" panose="02020503050405090304" pitchFamily="18" charset="0"/>
                <a:cs typeface="Times New Roman" panose="02020503050405090304" pitchFamily="18" charset="0"/>
              </a:rPr>
              <a:t>Mental health professionals can manage user interactions, view session history, and monitor consultations through an intuitive dashboard.</a:t>
            </a:r>
            <a:endParaRPr lang="en-US" sz="2000" dirty="0">
              <a:latin typeface="Times New Roman" panose="02020503050405090304" pitchFamily="18" charset="0"/>
              <a:cs typeface="Times New Roman" panose="02020503050405090304" pitchFamily="18" charset="0"/>
            </a:endParaRPr>
          </a:p>
          <a:p>
            <a:r>
              <a:rPr lang="en-US" sz="2000" b="1" dirty="0">
                <a:latin typeface="Times New Roman" panose="02020503050405090304" pitchFamily="18" charset="0"/>
                <a:cs typeface="Times New Roman" panose="02020503050405090304" pitchFamily="18" charset="0"/>
              </a:rPr>
              <a:t>Performance Optimization:</a:t>
            </a:r>
            <a:br>
              <a:rPr lang="en-US" sz="2000" dirty="0">
                <a:latin typeface="Times New Roman" panose="02020503050405090304" pitchFamily="18" charset="0"/>
                <a:cs typeface="Times New Roman" panose="02020503050405090304" pitchFamily="18" charset="0"/>
              </a:rPr>
            </a:br>
            <a:r>
              <a:rPr lang="en-US" sz="2000" dirty="0">
                <a:latin typeface="Times New Roman" panose="02020503050405090304" pitchFamily="18" charset="0"/>
                <a:cs typeface="Times New Roman" panose="02020503050405090304" pitchFamily="18" charset="0"/>
              </a:rPr>
              <a:t>Utilizes real-time technologies and optimized architecture to ensure fast response times and a seamless user experience.</a:t>
            </a:r>
            <a:endParaRPr lang="en-US" sz="2000" dirty="0">
              <a:latin typeface="Times New Roman" panose="02020503050405090304" pitchFamily="18" charset="0"/>
              <a:cs typeface="Times New Roman" panose="02020503050405090304" pitchFamily="18" charset="0"/>
            </a:endParaRPr>
          </a:p>
          <a:p>
            <a:pPr marL="457200" lvl="0" indent="-381000" algn="just" rtl="0">
              <a:spcBef>
                <a:spcPts val="0"/>
              </a:spcBef>
              <a:spcAft>
                <a:spcPts val="0"/>
              </a:spcAft>
              <a:buClr>
                <a:srgbClr val="0D0D0D"/>
              </a:buClr>
              <a:buSzPts val="2400"/>
              <a:buChar char="•"/>
            </a:pPr>
            <a:endParaRPr sz="3000" i="0" dirty="0">
              <a:solidFill>
                <a:srgbClr val="0C0C0C"/>
              </a:solidFill>
              <a:latin typeface="Times New Roman" panose="02020503050405090304"/>
              <a:ea typeface="Times New Roman" panose="02020503050405090304"/>
              <a:cs typeface="Times New Roman" panose="02020503050405090304"/>
              <a:sym typeface="Times New Roman" panose="02020503050405090304"/>
            </a:endParaRPr>
          </a:p>
        </p:txBody>
      </p:sp>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5"/>
          <p:cNvSpPr txBox="1"/>
          <p:nvPr/>
        </p:nvSpPr>
        <p:spPr>
          <a:xfrm>
            <a:off x="467544" y="260648"/>
            <a:ext cx="5400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a:solidFill>
                  <a:schemeClr val="dk1"/>
                </a:solidFill>
                <a:latin typeface="Times New Roman" panose="02020503050405090304"/>
                <a:ea typeface="Times New Roman" panose="02020503050405090304"/>
                <a:cs typeface="Times New Roman" panose="02020503050405090304"/>
                <a:sym typeface="Times New Roman" panose="02020503050405090304"/>
              </a:rPr>
              <a:t>Our Design</a:t>
            </a:r>
            <a:endParaRPr sz="3200" b="1">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24" name="Google Shape;124;p1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fld>
            <a:endParaRPr lang="en-IN"/>
          </a:p>
        </p:txBody>
      </p:sp>
      <p:pic>
        <p:nvPicPr>
          <p:cNvPr id="4" name="Picture 3"/>
          <p:cNvPicPr>
            <a:picLocks noChangeAspect="1"/>
          </p:cNvPicPr>
          <p:nvPr/>
        </p:nvPicPr>
        <p:blipFill>
          <a:blip r:embed="rId1"/>
          <a:stretch>
            <a:fillRect/>
          </a:stretch>
        </p:blipFill>
        <p:spPr>
          <a:xfrm>
            <a:off x="231102" y="921706"/>
            <a:ext cx="8681796" cy="5638574"/>
          </a:xfrm>
          <a:prstGeom prst="rect">
            <a:avLst/>
          </a:prstGeom>
        </p:spPr>
      </p:pic>
    </p:spTree>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6"/>
          <p:cNvSpPr txBox="1"/>
          <p:nvPr/>
        </p:nvSpPr>
        <p:spPr>
          <a:xfrm>
            <a:off x="467544" y="260648"/>
            <a:ext cx="5400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a:solidFill>
                  <a:schemeClr val="dk1"/>
                </a:solidFill>
                <a:latin typeface="Times New Roman" panose="02020503050405090304"/>
                <a:ea typeface="Times New Roman" panose="02020503050405090304"/>
                <a:cs typeface="Times New Roman" panose="02020503050405090304"/>
                <a:sym typeface="Times New Roman" panose="02020503050405090304"/>
              </a:rPr>
              <a:t>Our Design</a:t>
            </a:r>
            <a:endParaRPr sz="3200" b="1">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31" name="Google Shape;131;p1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fld>
            <a:endParaRPr lang="en-IN"/>
          </a:p>
        </p:txBody>
      </p:sp>
      <p:pic>
        <p:nvPicPr>
          <p:cNvPr id="3" name="Picture 2"/>
          <p:cNvPicPr>
            <a:picLocks noChangeAspect="1"/>
          </p:cNvPicPr>
          <p:nvPr/>
        </p:nvPicPr>
        <p:blipFill>
          <a:blip r:embed="rId1"/>
          <a:stretch>
            <a:fillRect/>
          </a:stretch>
        </p:blipFill>
        <p:spPr>
          <a:xfrm>
            <a:off x="394705" y="919628"/>
            <a:ext cx="8223021" cy="5340613"/>
          </a:xfrm>
          <a:prstGeom prst="rect">
            <a:avLst/>
          </a:prstGeom>
        </p:spPr>
      </p:pic>
    </p:spTree>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7"/>
          <p:cNvSpPr txBox="1"/>
          <p:nvPr/>
        </p:nvSpPr>
        <p:spPr>
          <a:xfrm>
            <a:off x="467544" y="260648"/>
            <a:ext cx="5400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a:solidFill>
                  <a:schemeClr val="dk1"/>
                </a:solidFill>
                <a:latin typeface="Times New Roman" panose="02020503050405090304"/>
                <a:ea typeface="Times New Roman" panose="02020503050405090304"/>
                <a:cs typeface="Times New Roman" panose="02020503050405090304"/>
                <a:sym typeface="Times New Roman" panose="02020503050405090304"/>
              </a:rPr>
              <a:t>Our Design</a:t>
            </a:r>
            <a:endParaRPr sz="3200" b="1">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39" name="Google Shape;139;p1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fld>
            <a:endParaRPr lang="en-IN"/>
          </a:p>
        </p:txBody>
      </p:sp>
      <p:pic>
        <p:nvPicPr>
          <p:cNvPr id="4" name="Picture 3"/>
          <p:cNvPicPr>
            <a:picLocks noChangeAspect="1"/>
          </p:cNvPicPr>
          <p:nvPr/>
        </p:nvPicPr>
        <p:blipFill>
          <a:blip r:embed="rId1"/>
          <a:stretch>
            <a:fillRect/>
          </a:stretch>
        </p:blipFill>
        <p:spPr>
          <a:xfrm>
            <a:off x="379774" y="961178"/>
            <a:ext cx="8307026" cy="5395172"/>
          </a:xfrm>
          <a:prstGeom prst="rect">
            <a:avLst/>
          </a:prstGeom>
        </p:spPr>
      </p:pic>
    </p:spTree>
  </p:cSld>
  <p:clrMapOvr>
    <a:masterClrMapping/>
  </p:clrMapOvr>
  <p:transition>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8"/>
          <p:cNvSpPr txBox="1"/>
          <p:nvPr/>
        </p:nvSpPr>
        <p:spPr>
          <a:xfrm>
            <a:off x="467544" y="260648"/>
            <a:ext cx="5400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a:solidFill>
                  <a:schemeClr val="dk1"/>
                </a:solidFill>
                <a:latin typeface="Times New Roman" panose="02020503050405090304"/>
                <a:ea typeface="Times New Roman" panose="02020503050405090304"/>
                <a:cs typeface="Times New Roman" panose="02020503050405090304"/>
                <a:sym typeface="Times New Roman" panose="02020503050405090304"/>
              </a:rPr>
              <a:t>Our Design</a:t>
            </a:r>
            <a:endParaRPr sz="3200" b="1">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46" name="Google Shape;146;p1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fld>
            <a:endParaRPr lang="en-IN"/>
          </a:p>
        </p:txBody>
      </p:sp>
      <p:pic>
        <p:nvPicPr>
          <p:cNvPr id="3" name="Picture 2"/>
          <p:cNvPicPr>
            <a:picLocks noChangeAspect="1"/>
          </p:cNvPicPr>
          <p:nvPr/>
        </p:nvPicPr>
        <p:blipFill>
          <a:blip r:embed="rId1"/>
          <a:stretch>
            <a:fillRect/>
          </a:stretch>
        </p:blipFill>
        <p:spPr>
          <a:xfrm>
            <a:off x="307068" y="926687"/>
            <a:ext cx="8529863" cy="5539898"/>
          </a:xfrm>
          <a:prstGeom prst="rect">
            <a:avLst/>
          </a:prstGeom>
        </p:spPr>
      </p:pic>
    </p:spTree>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9"/>
          <p:cNvSpPr txBox="1"/>
          <p:nvPr/>
        </p:nvSpPr>
        <p:spPr>
          <a:xfrm>
            <a:off x="467544" y="260648"/>
            <a:ext cx="5400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a:solidFill>
                  <a:schemeClr val="dk1"/>
                </a:solidFill>
                <a:latin typeface="Times New Roman" panose="02020503050405090304"/>
                <a:ea typeface="Times New Roman" panose="02020503050405090304"/>
                <a:cs typeface="Times New Roman" panose="02020503050405090304"/>
                <a:sym typeface="Times New Roman" panose="02020503050405090304"/>
              </a:rPr>
              <a:t>Our Design</a:t>
            </a:r>
            <a:endParaRPr sz="3200" b="1">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53" name="Google Shape;153;p1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fld>
            <a:endParaRPr lang="en-IN"/>
          </a:p>
        </p:txBody>
      </p:sp>
      <p:sp>
        <p:nvSpPr>
          <p:cNvPr id="155" name="Google Shape;155;p19"/>
          <p:cNvSpPr txBox="1"/>
          <p:nvPr/>
        </p:nvSpPr>
        <p:spPr>
          <a:xfrm>
            <a:off x="3362375" y="988925"/>
            <a:ext cx="2133600" cy="45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3200">
                <a:solidFill>
                  <a:schemeClr val="dk1"/>
                </a:solidFill>
                <a:latin typeface="Calibri"/>
                <a:ea typeface="Calibri"/>
                <a:cs typeface="Calibri"/>
                <a:sym typeface="Calibri"/>
              </a:rPr>
              <a:t>User Profile</a:t>
            </a:r>
            <a:endParaRPr sz="3200">
              <a:solidFill>
                <a:schemeClr val="dk1"/>
              </a:solidFill>
              <a:latin typeface="Calibri"/>
              <a:ea typeface="Calibri"/>
              <a:cs typeface="Calibri"/>
              <a:sym typeface="Calibri"/>
            </a:endParaRPr>
          </a:p>
        </p:txBody>
      </p:sp>
      <p:pic>
        <p:nvPicPr>
          <p:cNvPr id="4" name="Picture 3"/>
          <p:cNvPicPr>
            <a:picLocks noChangeAspect="1"/>
          </p:cNvPicPr>
          <p:nvPr/>
        </p:nvPicPr>
        <p:blipFill>
          <a:blip r:embed="rId1"/>
          <a:stretch>
            <a:fillRect/>
          </a:stretch>
        </p:blipFill>
        <p:spPr>
          <a:xfrm>
            <a:off x="467544" y="988925"/>
            <a:ext cx="8354114" cy="5425754"/>
          </a:xfrm>
          <a:prstGeom prst="rect">
            <a:avLst/>
          </a:prstGeom>
        </p:spPr>
      </p:pic>
    </p:spTree>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IN" b="1" dirty="0"/>
              <a:t>Future Scope</a:t>
            </a:r>
            <a:endParaRPr dirty="0"/>
          </a:p>
        </p:txBody>
      </p:sp>
      <p:sp>
        <p:nvSpPr>
          <p:cNvPr id="169" name="Google Shape;169;p21"/>
          <p:cNvSpPr txBox="1">
            <a:spLocks noGrp="1"/>
          </p:cNvSpPr>
          <p:nvPr>
            <p:ph type="body" idx="1"/>
          </p:nvPr>
        </p:nvSpPr>
        <p:spPr>
          <a:xfrm>
            <a:off x="0" y="838200"/>
            <a:ext cx="8229600" cy="6288861"/>
          </a:xfrm>
          <a:prstGeom prst="rect">
            <a:avLst/>
          </a:prstGeom>
          <a:noFill/>
          <a:ln>
            <a:noFill/>
          </a:ln>
        </p:spPr>
        <p:txBody>
          <a:bodyPr spcFirstLastPara="1" wrap="square" lIns="91425" tIns="45700" rIns="91425" bIns="45700" anchor="t" anchorCtr="0">
            <a:spAutoFit/>
          </a:bodyPr>
          <a:lstStyle/>
          <a:p>
            <a:r>
              <a:rPr lang="en-US" sz="2000" dirty="0"/>
              <a:t>Project Harmony has strong potential for expansion into a more advanced and intelligent mental health ecosystem. </a:t>
            </a:r>
            <a:endParaRPr lang="en-US" sz="2000" dirty="0"/>
          </a:p>
          <a:p>
            <a:pPr>
              <a:buFont typeface="Arial" panose="020B0604020202090204" pitchFamily="34" charset="0"/>
              <a:buChar char="•"/>
            </a:pPr>
            <a:r>
              <a:rPr lang="en-US" sz="2000" dirty="0"/>
              <a:t>🤖 AI-Based Mental Health Assistance</a:t>
            </a:r>
            <a:br>
              <a:rPr lang="en-US" sz="2000" dirty="0"/>
            </a:br>
            <a:r>
              <a:rPr lang="en-US" sz="2000" dirty="0"/>
              <a:t>Integration of AI to provide mood analysis, personalized suggestions, and early detection of mental health issues. </a:t>
            </a:r>
            <a:endParaRPr lang="en-US" sz="2000" dirty="0"/>
          </a:p>
          <a:p>
            <a:pPr>
              <a:buFont typeface="Arial" panose="020B0604020202090204" pitchFamily="34" charset="0"/>
              <a:buChar char="•"/>
            </a:pPr>
            <a:r>
              <a:rPr lang="en-US" sz="2000" dirty="0"/>
              <a:t>😊 Emotion &amp; Sentiment Analysis</a:t>
            </a:r>
            <a:br>
              <a:rPr lang="en-US" sz="2000" dirty="0"/>
            </a:br>
            <a:r>
              <a:rPr lang="en-US" sz="2000" dirty="0"/>
              <a:t>Analyze user conversations or inputs to understand emotional states and recommend appropriate support. </a:t>
            </a:r>
            <a:endParaRPr lang="en-US" sz="2000" dirty="0"/>
          </a:p>
          <a:p>
            <a:pPr>
              <a:buFont typeface="Arial" panose="020B0604020202090204" pitchFamily="34" charset="0"/>
              <a:buChar char="•"/>
            </a:pPr>
            <a:r>
              <a:rPr lang="en-US" sz="2000" dirty="0"/>
              <a:t>📅 Appointment Scheduling System</a:t>
            </a:r>
            <a:br>
              <a:rPr lang="en-US" sz="2000" dirty="0"/>
            </a:br>
            <a:r>
              <a:rPr lang="en-US" sz="2000" dirty="0"/>
              <a:t>Allow users to book sessions with professionals, set reminders, and manage schedules efficiently. </a:t>
            </a:r>
            <a:endParaRPr lang="en-US" sz="2000" dirty="0"/>
          </a:p>
          <a:p>
            <a:pPr>
              <a:buFont typeface="Arial" panose="020B0604020202090204" pitchFamily="34" charset="0"/>
              <a:buChar char="•"/>
            </a:pPr>
            <a:r>
              <a:rPr lang="en-US" sz="2000" dirty="0"/>
              <a:t>📱 Mobile Application Development</a:t>
            </a:r>
            <a:br>
              <a:rPr lang="en-US" sz="2000" dirty="0"/>
            </a:br>
            <a:r>
              <a:rPr lang="en-US" sz="2000" dirty="0"/>
              <a:t>Expand the platform to Android and iOS for better accessibility and user reach. </a:t>
            </a:r>
            <a:endParaRPr lang="en-US" sz="2000" dirty="0"/>
          </a:p>
          <a:p>
            <a:pPr>
              <a:buFont typeface="Arial" panose="020B0604020202090204" pitchFamily="34" charset="0"/>
              <a:buChar char="•"/>
            </a:pPr>
            <a:r>
              <a:rPr lang="en-US" sz="2000" dirty="0"/>
              <a:t>🌐 Multilingual Support</a:t>
            </a:r>
            <a:br>
              <a:rPr lang="en-US" sz="2000" dirty="0"/>
            </a:br>
            <a:r>
              <a:rPr lang="en-US" sz="2000" dirty="0" err="1"/>
              <a:t>Support</a:t>
            </a:r>
            <a:r>
              <a:rPr lang="en-US" sz="2000" dirty="0"/>
              <a:t> multiple languages to make the platform accessible to a wider and diverse audience.</a:t>
            </a:r>
            <a:endParaRPr lang="en-US" sz="2000" dirty="0"/>
          </a:p>
          <a:p>
            <a:pPr marL="88900" indent="0">
              <a:buNone/>
            </a:pPr>
            <a:endParaRPr lang="en-US" sz="1600" dirty="0"/>
          </a:p>
          <a:p>
            <a:pPr marL="342900" lvl="0" indent="-330200" algn="just" rtl="0">
              <a:spcBef>
                <a:spcPts val="360"/>
              </a:spcBef>
              <a:spcAft>
                <a:spcPts val="0"/>
              </a:spcAft>
              <a:buClr>
                <a:srgbClr val="0D0D0D"/>
              </a:buClr>
              <a:buSzPts val="2000"/>
              <a:buFont typeface="Times New Roman" panose="02020503050405090304"/>
              <a:buChar char="•"/>
            </a:pPr>
            <a:endParaRPr lang="en-IN" sz="2000" dirty="0">
              <a:highlight>
                <a:srgbClr val="FFFFFF"/>
              </a:highlight>
            </a:endParaRPr>
          </a:p>
        </p:txBody>
      </p:sp>
      <p:sp>
        <p:nvSpPr>
          <p:cNvPr id="170" name="Google Shape;170;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transition>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2"/>
          <p:cNvSpPr txBox="1"/>
          <p:nvPr/>
        </p:nvSpPr>
        <p:spPr>
          <a:xfrm>
            <a:off x="467544" y="260648"/>
            <a:ext cx="540060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a:solidFill>
                  <a:schemeClr val="dk1"/>
                </a:solidFill>
                <a:latin typeface="Times New Roman" panose="02020503050405090304"/>
                <a:ea typeface="Times New Roman" panose="02020503050405090304"/>
                <a:cs typeface="Times New Roman" panose="02020503050405090304"/>
                <a:sym typeface="Times New Roman" panose="02020503050405090304"/>
              </a:rPr>
              <a:t>CONCLUSION</a:t>
            </a:r>
            <a:endParaRPr lang="en-IN" sz="3200" b="1">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76" name="Google Shape;176;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fld>
            <a:endParaRPr lang="en-IN"/>
          </a:p>
        </p:txBody>
      </p:sp>
      <p:sp>
        <p:nvSpPr>
          <p:cNvPr id="177" name="Google Shape;177;p22"/>
          <p:cNvSpPr txBox="1"/>
          <p:nvPr/>
        </p:nvSpPr>
        <p:spPr>
          <a:xfrm>
            <a:off x="0" y="845423"/>
            <a:ext cx="8424900" cy="5447605"/>
          </a:xfrm>
          <a:prstGeom prst="rect">
            <a:avLst/>
          </a:prstGeom>
          <a:noFill/>
          <a:ln>
            <a:noFill/>
          </a:ln>
        </p:spPr>
        <p:txBody>
          <a:bodyPr spcFirstLastPara="1" wrap="square" lIns="91425" tIns="45700" rIns="91425" bIns="45700" anchor="t" anchorCtr="0">
            <a:spAutoFit/>
          </a:bodyPr>
          <a:lstStyle/>
          <a:p>
            <a:pPr marL="101600" lvl="0" algn="l" rtl="0">
              <a:spcBef>
                <a:spcPts val="0"/>
              </a:spcBef>
              <a:spcAft>
                <a:spcPts val="0"/>
              </a:spcAft>
              <a:buClr>
                <a:schemeClr val="dk1"/>
              </a:buClr>
              <a:buSzPts val="2000"/>
            </a:pPr>
            <a:endParaRPr lang="en-US" sz="2000" dirty="0">
              <a:solidFill>
                <a:schemeClr val="dk1"/>
              </a:solidFill>
              <a:highlight>
                <a:srgbClr val="FFFFFF"/>
              </a:highlight>
              <a:latin typeface="Times New Roman" panose="02020503050405090304"/>
              <a:ea typeface="Times New Roman" panose="02020503050405090304"/>
              <a:cs typeface="Times New Roman" panose="02020503050405090304"/>
              <a:sym typeface="Times New Roman" panose="02020503050405090304"/>
            </a:endParaRPr>
          </a:p>
          <a:p>
            <a:pPr marL="457200" lvl="0" indent="-355600" algn="l" rtl="0">
              <a:spcBef>
                <a:spcPts val="0"/>
              </a:spcBef>
              <a:spcAft>
                <a:spcPts val="0"/>
              </a:spcAft>
              <a:buClr>
                <a:schemeClr val="dk1"/>
              </a:buClr>
              <a:buSzPts val="2000"/>
              <a:buFont typeface="Times New Roman" panose="02020503050405090304"/>
              <a:buChar char="•"/>
            </a:pPr>
            <a:r>
              <a:rPr lang="en-US" sz="2000" dirty="0">
                <a:latin typeface="Times New Roman" panose="02020503050405090304" pitchFamily="18" charset="0"/>
                <a:cs typeface="Times New Roman" panose="02020503050405090304" pitchFamily="18" charset="0"/>
              </a:rPr>
              <a:t>Project Harmony successfully presents a comprehensive web-based mental health platform that connects users with qualified mental health professionals while also providing a supportive community environment. By integrating features such as real-time video and voice communication, secure authentication, and a community forum, the platform offers a complete solution for modern mental health needs.</a:t>
            </a:r>
            <a:endParaRPr lang="en-US" sz="2000" dirty="0">
              <a:latin typeface="Times New Roman" panose="02020503050405090304" pitchFamily="18" charset="0"/>
              <a:cs typeface="Times New Roman" panose="02020503050405090304" pitchFamily="18" charset="0"/>
            </a:endParaRPr>
          </a:p>
          <a:p>
            <a:pPr marL="457200" lvl="0" indent="-355600" algn="l" rtl="0">
              <a:spcBef>
                <a:spcPts val="0"/>
              </a:spcBef>
              <a:spcAft>
                <a:spcPts val="0"/>
              </a:spcAft>
              <a:buClr>
                <a:schemeClr val="dk1"/>
              </a:buClr>
              <a:buSzPts val="2000"/>
              <a:buFont typeface="Times New Roman" panose="02020503050405090304"/>
              <a:buChar char="•"/>
            </a:pPr>
            <a:r>
              <a:rPr lang="en-US" sz="2000" dirty="0">
                <a:latin typeface="Times New Roman" panose="02020503050405090304" pitchFamily="18" charset="0"/>
                <a:cs typeface="Times New Roman" panose="02020503050405090304" pitchFamily="18" charset="0"/>
              </a:rPr>
              <a:t>The use of advanced technologies like Next.js, Node.js, Firebase, MongoDB, and </a:t>
            </a:r>
            <a:r>
              <a:rPr lang="en-US" sz="2000" dirty="0" err="1">
                <a:latin typeface="Times New Roman" panose="02020503050405090304" pitchFamily="18" charset="0"/>
                <a:cs typeface="Times New Roman" panose="02020503050405090304" pitchFamily="18" charset="0"/>
              </a:rPr>
              <a:t>Sendbird</a:t>
            </a:r>
            <a:r>
              <a:rPr lang="en-US" sz="2000" dirty="0">
                <a:latin typeface="Times New Roman" panose="02020503050405090304" pitchFamily="18" charset="0"/>
                <a:cs typeface="Times New Roman" panose="02020503050405090304" pitchFamily="18" charset="0"/>
              </a:rPr>
              <a:t> ensures that the system is scalable, secure, and efficient. It not only enables quick access to professional help but also encourages peer interaction, helping users feel less isolated.</a:t>
            </a:r>
            <a:endParaRPr lang="en-US" sz="2000" dirty="0">
              <a:latin typeface="Times New Roman" panose="02020503050405090304" pitchFamily="18" charset="0"/>
              <a:cs typeface="Times New Roman" panose="02020503050405090304" pitchFamily="18" charset="0"/>
            </a:endParaRPr>
          </a:p>
          <a:p>
            <a:pPr marL="457200" lvl="0" indent="-355600" algn="l" rtl="0">
              <a:spcBef>
                <a:spcPts val="0"/>
              </a:spcBef>
              <a:spcAft>
                <a:spcPts val="0"/>
              </a:spcAft>
              <a:buClr>
                <a:schemeClr val="dk1"/>
              </a:buClr>
              <a:buSzPts val="2000"/>
              <a:buFont typeface="Times New Roman" panose="02020503050405090304"/>
              <a:buChar char="•"/>
            </a:pPr>
            <a:r>
              <a:rPr lang="en-US" sz="2000" dirty="0">
                <a:latin typeface="Times New Roman" panose="02020503050405090304" pitchFamily="18" charset="0"/>
                <a:cs typeface="Times New Roman" panose="02020503050405090304" pitchFamily="18" charset="0"/>
              </a:rPr>
              <a:t>Overall, Project Harmony addresses key challenges in mental healthcare by making support more accessible, reliable, and user-friendly. It has the potential to significantly improve user well-being and can be further enhanced into a more advanced and intelligent mental health ecosystem in the future</a:t>
            </a:r>
            <a:r>
              <a:rPr lang="en-US" sz="2800" dirty="0"/>
              <a:t>.</a:t>
            </a:r>
            <a:endParaRPr lang="en-US" sz="2000" dirty="0">
              <a:solidFill>
                <a:schemeClr val="dk1"/>
              </a:solidFill>
              <a:highlight>
                <a:srgbClr val="FFFFFF"/>
              </a:highlight>
              <a:latin typeface="Times New Roman" panose="02020503050405090304" pitchFamily="18" charset="0"/>
              <a:ea typeface="Times New Roman" panose="02020503050405090304"/>
              <a:cs typeface="Times New Roman" panose="02020503050405090304" pitchFamily="18" charset="0"/>
              <a:sym typeface="Times New Roman" panose="02020503050405090304"/>
            </a:endParaRPr>
          </a:p>
          <a:p>
            <a:pPr marL="457200" lvl="0" indent="-355600" algn="l" rtl="0">
              <a:spcBef>
                <a:spcPts val="0"/>
              </a:spcBef>
              <a:spcAft>
                <a:spcPts val="0"/>
              </a:spcAft>
              <a:buClr>
                <a:schemeClr val="dk1"/>
              </a:buClr>
              <a:buSzPts val="2000"/>
              <a:buFont typeface="Times New Roman" panose="02020503050405090304"/>
              <a:buChar char="•"/>
            </a:pPr>
            <a:endParaRPr lang="en-US" sz="2000" dirty="0">
              <a:solidFill>
                <a:schemeClr val="dk1"/>
              </a:solidFill>
              <a:highlight>
                <a:srgbClr val="FFFFFF"/>
              </a:highlight>
              <a:latin typeface="Times New Roman" panose="02020503050405090304"/>
              <a:ea typeface="Times New Roman" panose="02020503050405090304"/>
              <a:cs typeface="Times New Roman" panose="02020503050405090304"/>
              <a:sym typeface="Times New Roman" panose="02020503050405090304"/>
            </a:endParaRPr>
          </a:p>
        </p:txBody>
      </p:sp>
    </p:spTree>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3"/>
          <p:cNvSpPr txBox="1"/>
          <p:nvPr/>
        </p:nvSpPr>
        <p:spPr>
          <a:xfrm>
            <a:off x="467544" y="260648"/>
            <a:ext cx="540060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a:solidFill>
                  <a:schemeClr val="dk1"/>
                </a:solidFill>
                <a:latin typeface="Times New Roman" panose="02020503050405090304"/>
                <a:ea typeface="Times New Roman" panose="02020503050405090304"/>
                <a:cs typeface="Times New Roman" panose="02020503050405090304"/>
                <a:sym typeface="Times New Roman" panose="02020503050405090304"/>
              </a:rPr>
              <a:t>References/Links used</a:t>
            </a:r>
            <a:endParaRPr lang="en-IN" sz="3200" b="1">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83" name="Google Shape;183;p23"/>
          <p:cNvSpPr txBox="1"/>
          <p:nvPr/>
        </p:nvSpPr>
        <p:spPr>
          <a:xfrm>
            <a:off x="467544" y="1196752"/>
            <a:ext cx="8280900" cy="4493497"/>
          </a:xfrm>
          <a:prstGeom prst="rect">
            <a:avLst/>
          </a:prstGeom>
          <a:noFill/>
          <a:ln>
            <a:noFill/>
          </a:ln>
        </p:spPr>
        <p:txBody>
          <a:bodyPr spcFirstLastPara="1" wrap="square" lIns="91425" tIns="45700" rIns="91425" bIns="45700" anchor="t" anchorCtr="0">
            <a:spAutoFit/>
          </a:bodyPr>
          <a:lstStyle/>
          <a:p>
            <a:r>
              <a:rPr lang="en-IN" sz="2800" dirty="0">
                <a:solidFill>
                  <a:schemeClr val="dk1"/>
                </a:solidFill>
                <a:latin typeface="Calibri"/>
                <a:ea typeface="Calibri"/>
                <a:cs typeface="Calibri"/>
                <a:sym typeface="Calibri"/>
              </a:rPr>
              <a:t>●</a:t>
            </a:r>
            <a:r>
              <a:rPr lang="en-IN" sz="2000" b="1" dirty="0">
                <a:latin typeface="Times New Roman" panose="02020503050405090304" pitchFamily="18" charset="0"/>
                <a:cs typeface="Times New Roman" panose="02020503050405090304" pitchFamily="18" charset="0"/>
              </a:rPr>
              <a:t>Project Repository</a:t>
            </a:r>
            <a:endParaRPr lang="en-IN" sz="2000" b="1" dirty="0">
              <a:latin typeface="Times New Roman" panose="02020503050405090304" pitchFamily="18" charset="0"/>
              <a:cs typeface="Times New Roman" panose="02020503050405090304" pitchFamily="18" charset="0"/>
            </a:endParaRPr>
          </a:p>
          <a:p>
            <a:pPr>
              <a:buFont typeface="Arial" panose="020B0604020202090204" pitchFamily="34" charset="0"/>
              <a:buChar char="•"/>
            </a:pPr>
            <a:r>
              <a:rPr lang="en-IN" sz="2000" dirty="0">
                <a:latin typeface="Times New Roman" panose="02020503050405090304" pitchFamily="18" charset="0"/>
                <a:cs typeface="Times New Roman" panose="02020503050405090304" pitchFamily="18" charset="0"/>
                <a:hlinkClick r:id="rId1"/>
              </a:rPr>
              <a:t>https://github.com/stoicbrains/Real-Time-Exercise-Detection-and-Mental-Wellness-Recommendation-System-2163-1791-1787-1835-</a:t>
            </a:r>
            <a:r>
              <a:rPr lang="en-IN" sz="2000" dirty="0">
                <a:latin typeface="Times New Roman" panose="02020503050405090304" pitchFamily="18" charset="0"/>
                <a:cs typeface="Times New Roman" panose="02020503050405090304" pitchFamily="18" charset="0"/>
              </a:rPr>
              <a:t> </a:t>
            </a:r>
            <a:endParaRPr lang="en-IN" sz="2000" dirty="0">
              <a:latin typeface="Times New Roman" panose="02020503050405090304" pitchFamily="18" charset="0"/>
              <a:cs typeface="Times New Roman" panose="02020503050405090304" pitchFamily="18" charset="0"/>
            </a:endParaRPr>
          </a:p>
          <a:p>
            <a:pPr>
              <a:buFont typeface="Arial" panose="020B0604020202090204" pitchFamily="34" charset="0"/>
              <a:buChar char="•"/>
            </a:pPr>
            <a:endParaRPr lang="en-IN" sz="2000" dirty="0">
              <a:latin typeface="Times New Roman" panose="02020503050405090304" pitchFamily="18" charset="0"/>
              <a:cs typeface="Times New Roman" panose="02020503050405090304" pitchFamily="18" charset="0"/>
            </a:endParaRPr>
          </a:p>
          <a:p>
            <a:r>
              <a:rPr lang="en-IN" sz="2000" b="1" dirty="0">
                <a:latin typeface="Times New Roman" panose="02020503050405090304" pitchFamily="18" charset="0"/>
                <a:cs typeface="Times New Roman" panose="02020503050405090304" pitchFamily="18" charset="0"/>
              </a:rPr>
              <a:t>Documentation</a:t>
            </a:r>
            <a:endParaRPr lang="en-IN" sz="2000" b="1" dirty="0">
              <a:latin typeface="Times New Roman" panose="02020503050405090304" pitchFamily="18" charset="0"/>
              <a:cs typeface="Times New Roman" panose="02020503050405090304" pitchFamily="18" charset="0"/>
            </a:endParaRPr>
          </a:p>
          <a:p>
            <a:pPr>
              <a:buFont typeface="Arial" panose="020B0604020202090204" pitchFamily="34" charset="0"/>
              <a:buChar char="•"/>
            </a:pPr>
            <a:r>
              <a:rPr lang="en-IN" sz="2000" dirty="0">
                <a:latin typeface="Times New Roman" panose="02020503050405090304" pitchFamily="18" charset="0"/>
                <a:cs typeface="Times New Roman" panose="02020503050405090304" pitchFamily="18" charset="0"/>
              </a:rPr>
              <a:t>Next.js → </a:t>
            </a:r>
            <a:r>
              <a:rPr lang="en-IN" sz="2000" dirty="0">
                <a:latin typeface="Times New Roman" panose="02020503050405090304" pitchFamily="18" charset="0"/>
                <a:cs typeface="Times New Roman" panose="02020503050405090304" pitchFamily="18" charset="0"/>
                <a:hlinkClick r:id="rId2"/>
              </a:rPr>
              <a:t>https://nextjs.org/docs</a:t>
            </a:r>
            <a:r>
              <a:rPr lang="en-IN" sz="2000" dirty="0">
                <a:latin typeface="Times New Roman" panose="02020503050405090304" pitchFamily="18" charset="0"/>
                <a:cs typeface="Times New Roman" panose="02020503050405090304" pitchFamily="18" charset="0"/>
              </a:rPr>
              <a:t> </a:t>
            </a:r>
            <a:endParaRPr lang="en-IN" sz="2000" dirty="0">
              <a:latin typeface="Times New Roman" panose="02020503050405090304" pitchFamily="18" charset="0"/>
              <a:cs typeface="Times New Roman" panose="02020503050405090304" pitchFamily="18" charset="0"/>
            </a:endParaRPr>
          </a:p>
          <a:p>
            <a:pPr>
              <a:buFont typeface="Arial" panose="020B0604020202090204" pitchFamily="34" charset="0"/>
              <a:buChar char="•"/>
            </a:pPr>
            <a:r>
              <a:rPr lang="en-IN" sz="2000" dirty="0">
                <a:latin typeface="Times New Roman" panose="02020503050405090304" pitchFamily="18" charset="0"/>
                <a:cs typeface="Times New Roman" panose="02020503050405090304" pitchFamily="18" charset="0"/>
              </a:rPr>
              <a:t>Tailwind CSS → </a:t>
            </a:r>
            <a:r>
              <a:rPr lang="en-IN" sz="2000" dirty="0">
                <a:latin typeface="Times New Roman" panose="02020503050405090304" pitchFamily="18" charset="0"/>
                <a:cs typeface="Times New Roman" panose="02020503050405090304" pitchFamily="18" charset="0"/>
                <a:hlinkClick r:id="rId3"/>
              </a:rPr>
              <a:t>https://tailwindcss.com/docs</a:t>
            </a:r>
            <a:r>
              <a:rPr lang="en-IN" sz="2000" dirty="0">
                <a:latin typeface="Times New Roman" panose="02020503050405090304" pitchFamily="18" charset="0"/>
                <a:cs typeface="Times New Roman" panose="02020503050405090304" pitchFamily="18" charset="0"/>
              </a:rPr>
              <a:t> </a:t>
            </a:r>
            <a:endParaRPr lang="en-IN" sz="2000" dirty="0">
              <a:latin typeface="Times New Roman" panose="02020503050405090304" pitchFamily="18" charset="0"/>
              <a:cs typeface="Times New Roman" panose="02020503050405090304" pitchFamily="18" charset="0"/>
            </a:endParaRPr>
          </a:p>
          <a:p>
            <a:pPr>
              <a:buFont typeface="Arial" panose="020B0604020202090204" pitchFamily="34" charset="0"/>
              <a:buChar char="•"/>
            </a:pPr>
            <a:r>
              <a:rPr lang="en-IN" sz="2000" dirty="0">
                <a:latin typeface="Times New Roman" panose="02020503050405090304" pitchFamily="18" charset="0"/>
                <a:cs typeface="Times New Roman" panose="02020503050405090304" pitchFamily="18" charset="0"/>
              </a:rPr>
              <a:t>Framer Motion → </a:t>
            </a:r>
            <a:r>
              <a:rPr lang="en-IN" sz="2000" dirty="0">
                <a:latin typeface="Times New Roman" panose="02020503050405090304" pitchFamily="18" charset="0"/>
                <a:cs typeface="Times New Roman" panose="02020503050405090304" pitchFamily="18" charset="0"/>
                <a:hlinkClick r:id="rId4"/>
              </a:rPr>
              <a:t>https://www.framer.com/motion/</a:t>
            </a:r>
            <a:r>
              <a:rPr lang="en-IN" sz="2000" dirty="0">
                <a:latin typeface="Times New Roman" panose="02020503050405090304" pitchFamily="18" charset="0"/>
                <a:cs typeface="Times New Roman" panose="02020503050405090304" pitchFamily="18" charset="0"/>
              </a:rPr>
              <a:t> </a:t>
            </a:r>
            <a:endParaRPr lang="en-IN" sz="2000" dirty="0">
              <a:latin typeface="Times New Roman" panose="02020503050405090304" pitchFamily="18" charset="0"/>
              <a:cs typeface="Times New Roman" panose="02020503050405090304" pitchFamily="18" charset="0"/>
            </a:endParaRPr>
          </a:p>
          <a:p>
            <a:pPr>
              <a:buFont typeface="Arial" panose="020B0604020202090204" pitchFamily="34" charset="0"/>
              <a:buChar char="•"/>
            </a:pPr>
            <a:r>
              <a:rPr lang="en-IN" sz="2000" dirty="0">
                <a:latin typeface="Times New Roman" panose="02020503050405090304" pitchFamily="18" charset="0"/>
                <a:cs typeface="Times New Roman" panose="02020503050405090304" pitchFamily="18" charset="0"/>
              </a:rPr>
              <a:t>Node.js → </a:t>
            </a:r>
            <a:r>
              <a:rPr lang="en-IN" sz="2000" dirty="0">
                <a:latin typeface="Times New Roman" panose="02020503050405090304" pitchFamily="18" charset="0"/>
                <a:cs typeface="Times New Roman" panose="02020503050405090304" pitchFamily="18" charset="0"/>
                <a:hlinkClick r:id="rId5"/>
              </a:rPr>
              <a:t>https://nodejs.org</a:t>
            </a:r>
            <a:r>
              <a:rPr lang="en-IN" sz="2000" dirty="0">
                <a:latin typeface="Times New Roman" panose="02020503050405090304" pitchFamily="18" charset="0"/>
                <a:cs typeface="Times New Roman" panose="02020503050405090304" pitchFamily="18" charset="0"/>
              </a:rPr>
              <a:t> </a:t>
            </a:r>
            <a:endParaRPr lang="en-IN" sz="2000" dirty="0">
              <a:latin typeface="Times New Roman" panose="02020503050405090304" pitchFamily="18" charset="0"/>
              <a:cs typeface="Times New Roman" panose="02020503050405090304" pitchFamily="18" charset="0"/>
            </a:endParaRPr>
          </a:p>
          <a:p>
            <a:pPr>
              <a:buFont typeface="Arial" panose="020B0604020202090204" pitchFamily="34" charset="0"/>
              <a:buChar char="•"/>
            </a:pPr>
            <a:r>
              <a:rPr lang="en-IN" sz="2000" dirty="0">
                <a:latin typeface="Times New Roman" panose="02020503050405090304" pitchFamily="18" charset="0"/>
                <a:cs typeface="Times New Roman" panose="02020503050405090304" pitchFamily="18" charset="0"/>
              </a:rPr>
              <a:t>Express.js → </a:t>
            </a:r>
            <a:r>
              <a:rPr lang="en-IN" sz="2000" dirty="0">
                <a:latin typeface="Times New Roman" panose="02020503050405090304" pitchFamily="18" charset="0"/>
                <a:cs typeface="Times New Roman" panose="02020503050405090304" pitchFamily="18" charset="0"/>
                <a:hlinkClick r:id="rId6"/>
              </a:rPr>
              <a:t>https://expressjs.com</a:t>
            </a:r>
            <a:r>
              <a:rPr lang="en-IN" sz="2000" dirty="0">
                <a:latin typeface="Times New Roman" panose="02020503050405090304" pitchFamily="18" charset="0"/>
                <a:cs typeface="Times New Roman" panose="02020503050405090304" pitchFamily="18" charset="0"/>
              </a:rPr>
              <a:t> </a:t>
            </a:r>
            <a:endParaRPr lang="en-IN" sz="2000" dirty="0">
              <a:latin typeface="Times New Roman" panose="02020503050405090304" pitchFamily="18" charset="0"/>
              <a:cs typeface="Times New Roman" panose="02020503050405090304" pitchFamily="18" charset="0"/>
            </a:endParaRPr>
          </a:p>
          <a:p>
            <a:pPr>
              <a:buFont typeface="Arial" panose="020B0604020202090204" pitchFamily="34" charset="0"/>
              <a:buChar char="•"/>
            </a:pPr>
            <a:r>
              <a:rPr lang="en-IN" sz="2000" dirty="0">
                <a:latin typeface="Times New Roman" panose="02020503050405090304" pitchFamily="18" charset="0"/>
                <a:cs typeface="Times New Roman" panose="02020503050405090304" pitchFamily="18" charset="0"/>
              </a:rPr>
              <a:t>Firebase → </a:t>
            </a:r>
            <a:r>
              <a:rPr lang="en-IN" sz="2000" dirty="0">
                <a:latin typeface="Times New Roman" panose="02020503050405090304" pitchFamily="18" charset="0"/>
                <a:cs typeface="Times New Roman" panose="02020503050405090304" pitchFamily="18" charset="0"/>
                <a:hlinkClick r:id="rId7"/>
              </a:rPr>
              <a:t>https://firebase.google.com</a:t>
            </a:r>
            <a:r>
              <a:rPr lang="en-IN" sz="2000" dirty="0">
                <a:latin typeface="Times New Roman" panose="02020503050405090304" pitchFamily="18" charset="0"/>
                <a:cs typeface="Times New Roman" panose="02020503050405090304" pitchFamily="18" charset="0"/>
              </a:rPr>
              <a:t> </a:t>
            </a:r>
            <a:endParaRPr lang="en-IN" sz="2000" dirty="0">
              <a:latin typeface="Times New Roman" panose="02020503050405090304" pitchFamily="18" charset="0"/>
              <a:cs typeface="Times New Roman" panose="02020503050405090304" pitchFamily="18" charset="0"/>
            </a:endParaRPr>
          </a:p>
          <a:p>
            <a:pPr>
              <a:buFont typeface="Arial" panose="020B0604020202090204" pitchFamily="34" charset="0"/>
              <a:buChar char="•"/>
            </a:pPr>
            <a:r>
              <a:rPr lang="en-IN" sz="2000" dirty="0">
                <a:latin typeface="Times New Roman" panose="02020503050405090304" pitchFamily="18" charset="0"/>
                <a:cs typeface="Times New Roman" panose="02020503050405090304" pitchFamily="18" charset="0"/>
              </a:rPr>
              <a:t>MongoDB → </a:t>
            </a:r>
            <a:r>
              <a:rPr lang="en-IN" sz="2000" dirty="0">
                <a:latin typeface="Times New Roman" panose="02020503050405090304" pitchFamily="18" charset="0"/>
                <a:cs typeface="Times New Roman" panose="02020503050405090304" pitchFamily="18" charset="0"/>
                <a:hlinkClick r:id="rId8"/>
              </a:rPr>
              <a:t>https://www.mongodb.com</a:t>
            </a:r>
            <a:r>
              <a:rPr lang="en-IN" sz="2000" dirty="0">
                <a:latin typeface="Times New Roman" panose="02020503050405090304" pitchFamily="18" charset="0"/>
                <a:cs typeface="Times New Roman" panose="02020503050405090304" pitchFamily="18" charset="0"/>
              </a:rPr>
              <a:t> </a:t>
            </a:r>
            <a:endParaRPr lang="en-IN" sz="2000" dirty="0">
              <a:latin typeface="Times New Roman" panose="02020503050405090304" pitchFamily="18" charset="0"/>
              <a:cs typeface="Times New Roman" panose="02020503050405090304" pitchFamily="18" charset="0"/>
            </a:endParaRPr>
          </a:p>
          <a:p>
            <a:pPr>
              <a:buFont typeface="Arial" panose="020B0604020202090204" pitchFamily="34" charset="0"/>
              <a:buChar char="•"/>
            </a:pPr>
            <a:r>
              <a:rPr lang="en-IN" sz="2000" dirty="0" err="1">
                <a:latin typeface="Times New Roman" panose="02020503050405090304" pitchFamily="18" charset="0"/>
                <a:cs typeface="Times New Roman" panose="02020503050405090304" pitchFamily="18" charset="0"/>
              </a:rPr>
              <a:t>Sendbird</a:t>
            </a:r>
            <a:r>
              <a:rPr lang="en-IN" sz="2000" dirty="0">
                <a:latin typeface="Times New Roman" panose="02020503050405090304" pitchFamily="18" charset="0"/>
                <a:cs typeface="Times New Roman" panose="02020503050405090304" pitchFamily="18" charset="0"/>
              </a:rPr>
              <a:t> → </a:t>
            </a:r>
            <a:r>
              <a:rPr lang="en-IN" sz="2000" dirty="0">
                <a:latin typeface="Times New Roman" panose="02020503050405090304" pitchFamily="18" charset="0"/>
                <a:cs typeface="Times New Roman" panose="02020503050405090304" pitchFamily="18" charset="0"/>
                <a:hlinkClick r:id="rId9"/>
              </a:rPr>
              <a:t>https://sendbird.com</a:t>
            </a:r>
            <a:endParaRPr lang="en-IN" sz="2000" dirty="0">
              <a:latin typeface="Times New Roman" panose="02020503050405090304" pitchFamily="18" charset="0"/>
              <a:cs typeface="Times New Roman" panose="02020503050405090304" pitchFamily="18" charset="0"/>
            </a:endParaRPr>
          </a:p>
          <a:p>
            <a:pPr marL="285750" marR="0" lvl="0" indent="-28575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84" name="Google Shape;184;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transition>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4" descr="Download The Best Thank You Slide For PPT Presentation"/>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0" name="Google Shape;190;p24" descr="Download The Best Thank You Slide For PPT Presentation"/>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1" name="Google Shape;191;p24" descr="Download The Best Thank You Slide For PPT Presentation"/>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92" name="Google Shape;192;p24" descr="Thank you cards Images | Free Vectors, Stock Photos &amp; PSD"/>
          <p:cNvPicPr preferRelativeResize="0"/>
          <p:nvPr/>
        </p:nvPicPr>
        <p:blipFill rotWithShape="1">
          <a:blip r:embed="rId1"/>
          <a:srcRect/>
          <a:stretch>
            <a:fillRect/>
          </a:stretch>
        </p:blipFill>
        <p:spPr>
          <a:xfrm>
            <a:off x="0" y="857232"/>
            <a:ext cx="9144000" cy="5786478"/>
          </a:xfrm>
          <a:prstGeom prst="rect">
            <a:avLst/>
          </a:prstGeom>
          <a:noFill/>
          <a:ln>
            <a:noFill/>
          </a:ln>
        </p:spPr>
      </p:pic>
      <p:sp>
        <p:nvSpPr>
          <p:cNvPr id="193" name="Google Shape;193;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transition>
    <p:fade thruBlk="1"/>
  </p:transition>
</p:sld>
</file>

<file path=ppt/theme/theme1.xml><?xml version="1.0" encoding="utf-8"?>
<a:theme xmlns:a="http://schemas.openxmlformats.org/drawingml/2006/main" name="Bubble Sort">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10287</Words>
  <Application>WPS Presentation</Application>
  <PresentationFormat>On-screen Show (4:3)</PresentationFormat>
  <Paragraphs>203</Paragraphs>
  <Slides>19</Slides>
  <Notes>19</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19</vt:i4>
      </vt:variant>
    </vt:vector>
  </HeadingPairs>
  <TitlesOfParts>
    <vt:vector size="33" baseType="lpstr">
      <vt:lpstr>Arial</vt:lpstr>
      <vt:lpstr>SimSun</vt:lpstr>
      <vt:lpstr>Wingdings</vt:lpstr>
      <vt:lpstr>Arial</vt:lpstr>
      <vt:lpstr>Calibri</vt:lpstr>
      <vt:lpstr>Helvetica Neue</vt:lpstr>
      <vt:lpstr>Times New Roman</vt:lpstr>
      <vt:lpstr>Times New Roman</vt:lpstr>
      <vt:lpstr>Microsoft YaHei</vt:lpstr>
      <vt:lpstr>汉仪旗黑</vt:lpstr>
      <vt:lpstr>Arial Unicode MS</vt:lpstr>
      <vt:lpstr>Apple Color Emoji</vt:lpstr>
      <vt:lpstr>宋体-简</vt:lpstr>
      <vt:lpstr>Bubble Sort</vt:lpstr>
      <vt:lpstr>PowerPoint 演示文稿</vt:lpstr>
      <vt:lpstr>Abstract</vt:lpstr>
      <vt:lpstr>PowerPoint 演示文稿</vt:lpstr>
      <vt:lpstr>PowerPoint 演示文稿</vt:lpstr>
      <vt:lpstr>Introduction</vt:lpstr>
      <vt:lpstr>PowerPoint 演示文稿</vt:lpstr>
      <vt:lpstr>Significance</vt:lpstr>
      <vt:lpstr>Software requirements</vt:lpstr>
      <vt:lpstr>Software requirements</vt:lpstr>
      <vt:lpstr>PowerPoint 演示文稿</vt:lpstr>
      <vt:lpstr>PowerPoint 演示文稿</vt:lpstr>
      <vt:lpstr>PowerPoint 演示文稿</vt:lpstr>
      <vt:lpstr>PowerPoint 演示文稿</vt:lpstr>
      <vt:lpstr>PowerPoint 演示文稿</vt:lpstr>
      <vt:lpstr>PowerPoint 演示文稿</vt:lpstr>
      <vt:lpstr>Future Scope</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Arushi Gupta</dc:creator>
  <cp:lastModifiedBy>rishi raj</cp:lastModifiedBy>
  <cp:revision>11</cp:revision>
  <dcterms:created xsi:type="dcterms:W3CDTF">2026-05-03T05:00:06Z</dcterms:created>
  <dcterms:modified xsi:type="dcterms:W3CDTF">2026-05-03T05:00:06Z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E638F561E3705D7D56D6F66924723EB8_42</vt:lpwstr>
  </property>
  <property fmtid="{D5CDD505-2E9C-101B-9397-08002B2CF9AE}" pid="3" name="KSOProductBuildVer">
    <vt:lpwstr>1033-12.1.23152.23152</vt:lpwstr>
  </property>
</Properties>
</file>